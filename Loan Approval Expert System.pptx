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Roboto"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C7FA"/>
    <a:srgbClr val="8CB5F8"/>
    <a:srgbClr val="093C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A1C0A9-E724-4EB8-9205-1E6B2117479A}">
  <a:tblStyle styleId="{0CA1C0A9-E724-4EB8-9205-1E6B2117479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7" d="100"/>
          <a:sy n="137" d="100"/>
        </p:scale>
        <p:origin x="86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9466d96df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9466d96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8ab89c1b7a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8ab89c1b7a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8ab89c1b7a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8ab89c1b7a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9466d96df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9466d96df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9466d96dfa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9466d96dfa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9466d96dfa_4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9466d96dfa_4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9466d96dfa_4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9466d96dfa_4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8ab89c1b7a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8ab89c1b7a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8ab89c1b7a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8ab89c1b7a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8ab89c1b7a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8ab89c1b7a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9466d96dfa_4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9466d96dfa_4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9466d96dfa_4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9466d96dfa_4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9466d96dfa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9466d96df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9466d96dfa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9466d96dfa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9466d96dfa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9466d96df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Rectangle 1"/>
          <p:cNvSpPr/>
          <p:nvPr/>
        </p:nvSpPr>
        <p:spPr>
          <a:xfrm>
            <a:off x="0" y="0"/>
            <a:ext cx="2491915" cy="5143500"/>
          </a:xfrm>
          <a:prstGeom prst="rect">
            <a:avLst/>
          </a:prstGeom>
          <a:solidFill>
            <a:schemeClr val="accent1">
              <a:lumMod val="50000"/>
            </a:schemeClr>
          </a:solidFill>
          <a:ln>
            <a:solidFill>
              <a:schemeClr val="accent1">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4" name="Google Shape;54;p13"/>
          <p:cNvSpPr txBox="1">
            <a:spLocks noGrp="1"/>
          </p:cNvSpPr>
          <p:nvPr>
            <p:ph type="ctrTitle"/>
          </p:nvPr>
        </p:nvSpPr>
        <p:spPr>
          <a:xfrm>
            <a:off x="2363865" y="2577790"/>
            <a:ext cx="6982560" cy="6999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2500" b="1" dirty="0">
                <a:latin typeface="Times New Roman"/>
                <a:ea typeface="Times New Roman"/>
                <a:cs typeface="Times New Roman"/>
                <a:sym typeface="Times New Roman"/>
              </a:rPr>
              <a:t>Loan Approval Expert System</a:t>
            </a:r>
            <a:endParaRPr sz="2500" b="1" dirty="0">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59987" y="3571106"/>
            <a:ext cx="8053800" cy="14487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1200" b="1" dirty="0">
                <a:solidFill>
                  <a:schemeClr val="bg1"/>
                </a:solidFill>
                <a:latin typeface="Times New Roman"/>
                <a:ea typeface="Times New Roman"/>
                <a:cs typeface="Times New Roman"/>
                <a:sym typeface="Times New Roman"/>
              </a:rPr>
              <a:t>Batch No</a:t>
            </a:r>
            <a:r>
              <a:rPr lang="en" sz="1200" dirty="0">
                <a:solidFill>
                  <a:schemeClr val="bg1"/>
                </a:solidFill>
                <a:latin typeface="Times New Roman"/>
                <a:ea typeface="Times New Roman"/>
                <a:cs typeface="Times New Roman"/>
                <a:sym typeface="Times New Roman"/>
              </a:rPr>
              <a:t>: 10</a:t>
            </a:r>
            <a:endParaRPr sz="1200" dirty="0">
              <a:solidFill>
                <a:schemeClr val="bg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 sz="1200" b="1" dirty="0">
                <a:solidFill>
                  <a:schemeClr val="bg1"/>
                </a:solidFill>
                <a:latin typeface="Times New Roman"/>
                <a:ea typeface="Times New Roman"/>
                <a:cs typeface="Times New Roman"/>
                <a:sym typeface="Times New Roman"/>
              </a:rPr>
              <a:t>Subject:</a:t>
            </a:r>
            <a:r>
              <a:rPr lang="en" sz="1200" dirty="0">
                <a:solidFill>
                  <a:schemeClr val="bg1"/>
                </a:solidFill>
                <a:latin typeface="Times New Roman"/>
                <a:ea typeface="Times New Roman"/>
                <a:cs typeface="Times New Roman"/>
                <a:sym typeface="Times New Roman"/>
              </a:rPr>
              <a:t> Artificial Intelligence</a:t>
            </a:r>
            <a:endParaRPr sz="1200" dirty="0">
              <a:solidFill>
                <a:schemeClr val="bg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 sz="1200" b="1" dirty="0">
                <a:solidFill>
                  <a:schemeClr val="bg1"/>
                </a:solidFill>
                <a:latin typeface="Times New Roman"/>
                <a:ea typeface="Times New Roman"/>
                <a:cs typeface="Times New Roman"/>
                <a:sym typeface="Times New Roman"/>
              </a:rPr>
              <a:t>Slot</a:t>
            </a:r>
            <a:r>
              <a:rPr lang="en" sz="1200" dirty="0">
                <a:solidFill>
                  <a:schemeClr val="bg1"/>
                </a:solidFill>
                <a:latin typeface="Times New Roman"/>
                <a:ea typeface="Times New Roman"/>
                <a:cs typeface="Times New Roman"/>
                <a:sym typeface="Times New Roman"/>
              </a:rPr>
              <a:t>: C11 + C12 + C14</a:t>
            </a:r>
            <a:endParaRPr sz="1200" dirty="0">
              <a:solidFill>
                <a:schemeClr val="bg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 sz="1200" b="1" dirty="0">
                <a:solidFill>
                  <a:schemeClr val="bg1"/>
                </a:solidFill>
                <a:latin typeface="Times New Roman"/>
                <a:ea typeface="Times New Roman"/>
                <a:cs typeface="Times New Roman"/>
                <a:sym typeface="Times New Roman"/>
              </a:rPr>
              <a:t>Class Number</a:t>
            </a:r>
            <a:r>
              <a:rPr lang="en" sz="1200" dirty="0">
                <a:solidFill>
                  <a:schemeClr val="bg1"/>
                </a:solidFill>
                <a:latin typeface="Times New Roman"/>
                <a:ea typeface="Times New Roman"/>
                <a:cs typeface="Times New Roman"/>
                <a:sym typeface="Times New Roman"/>
              </a:rPr>
              <a:t>: BL2025260101053</a:t>
            </a:r>
            <a:endParaRPr sz="1200" dirty="0">
              <a:solidFill>
                <a:schemeClr val="bg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 sz="1200" b="1" dirty="0">
                <a:solidFill>
                  <a:schemeClr val="bg1"/>
                </a:solidFill>
                <a:latin typeface="Times New Roman"/>
                <a:ea typeface="Times New Roman"/>
                <a:cs typeface="Times New Roman"/>
                <a:sym typeface="Times New Roman"/>
              </a:rPr>
              <a:t>Fall Semester</a:t>
            </a:r>
            <a:r>
              <a:rPr lang="en" sz="1200" dirty="0">
                <a:solidFill>
                  <a:schemeClr val="bg1"/>
                </a:solidFill>
                <a:latin typeface="Times New Roman"/>
                <a:ea typeface="Times New Roman"/>
                <a:cs typeface="Times New Roman"/>
                <a:sym typeface="Times New Roman"/>
              </a:rPr>
              <a:t>: 2025-26</a:t>
            </a:r>
            <a:endParaRPr sz="1200" dirty="0">
              <a:solidFill>
                <a:schemeClr val="bg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r>
              <a:rPr lang="en" sz="1200" b="1" dirty="0">
                <a:solidFill>
                  <a:schemeClr val="bg1"/>
                </a:solidFill>
                <a:latin typeface="Times New Roman"/>
                <a:ea typeface="Times New Roman"/>
                <a:cs typeface="Times New Roman"/>
                <a:sym typeface="Times New Roman"/>
              </a:rPr>
              <a:t>Venue</a:t>
            </a:r>
            <a:r>
              <a:rPr lang="en" sz="1200" dirty="0">
                <a:solidFill>
                  <a:schemeClr val="bg1"/>
                </a:solidFill>
                <a:latin typeface="Times New Roman"/>
                <a:ea typeface="Times New Roman"/>
                <a:cs typeface="Times New Roman"/>
                <a:sym typeface="Times New Roman"/>
              </a:rPr>
              <a:t>: AB02-415</a:t>
            </a:r>
            <a:endParaRPr sz="1200"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endParaRPr sz="1200" dirty="0">
              <a:solidFill>
                <a:schemeClr val="dk1"/>
              </a:solidFill>
              <a:latin typeface="Roboto"/>
              <a:ea typeface="Roboto"/>
              <a:cs typeface="Roboto"/>
              <a:sym typeface="Roboto"/>
            </a:endParaRPr>
          </a:p>
        </p:txBody>
      </p:sp>
      <p:pic>
        <p:nvPicPr>
          <p:cNvPr id="56" name="Google Shape;56;p13"/>
          <p:cNvPicPr preferRelativeResize="0"/>
          <p:nvPr/>
        </p:nvPicPr>
        <p:blipFill>
          <a:blip r:embed="rId3">
            <a:alphaModFix/>
          </a:blip>
          <a:stretch>
            <a:fillRect/>
          </a:stretch>
        </p:blipFill>
        <p:spPr>
          <a:xfrm>
            <a:off x="4341656" y="579353"/>
            <a:ext cx="2810519" cy="1349772"/>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4" name="Rectangle 3"/>
          <p:cNvSpPr/>
          <p:nvPr/>
        </p:nvSpPr>
        <p:spPr>
          <a:xfrm>
            <a:off x="0" y="0"/>
            <a:ext cx="9144000" cy="1376529"/>
          </a:xfrm>
          <a:prstGeom prst="rect">
            <a:avLst/>
          </a:prstGeom>
          <a:solidFill>
            <a:srgbClr val="A8C7FA"/>
          </a:solidFill>
          <a:ln>
            <a:solidFill>
              <a:schemeClr val="accent1">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marR="0" lvl="0" indent="0" algn="ctr" rtl="0">
              <a:lnSpc>
                <a:spcPct val="100000"/>
              </a:lnSpc>
              <a:spcBef>
                <a:spcPts val="0"/>
              </a:spcBef>
              <a:spcAft>
                <a:spcPts val="0"/>
              </a:spcAft>
              <a:buNone/>
            </a:pPr>
            <a:r>
              <a:rPr lang="en" dirty="0">
                <a:latin typeface="Times New Roman" panose="02020603050405020304" pitchFamily="18" charset="0"/>
                <a:cs typeface="Times New Roman" panose="02020603050405020304" pitchFamily="18" charset="0"/>
                <a:sym typeface="Times New Roman"/>
              </a:rPr>
              <a:t>Group Members</a:t>
            </a:r>
            <a:endParaRPr dirty="0">
              <a:latin typeface="Times New Roman" panose="02020603050405020304" pitchFamily="18" charset="0"/>
              <a:cs typeface="Times New Roman" panose="02020603050405020304" pitchFamily="18" charset="0"/>
              <a:sym typeface="Times New Roman"/>
            </a:endParaRPr>
          </a:p>
        </p:txBody>
      </p:sp>
      <p:sp>
        <p:nvSpPr>
          <p:cNvPr id="62" name="Google Shape;62;p14"/>
          <p:cNvSpPr txBox="1">
            <a:spLocks noGrp="1"/>
          </p:cNvSpPr>
          <p:nvPr>
            <p:ph type="body" idx="1"/>
          </p:nvPr>
        </p:nvSpPr>
        <p:spPr>
          <a:xfrm>
            <a:off x="311700" y="1376529"/>
            <a:ext cx="8520600" cy="3416400"/>
          </a:xfrm>
          <a:prstGeom prst="rect">
            <a:avLst/>
          </a:prstGeom>
        </p:spPr>
        <p:txBody>
          <a:bodyPr spcFirstLastPara="1" wrap="square" lIns="91425" tIns="91425" rIns="91425" bIns="91425" anchor="t" anchorCtr="0">
            <a:normAutofit/>
          </a:bodyPr>
          <a:lstStyle/>
          <a:p>
            <a:pPr marL="457200" lvl="0" indent="-304800" algn="l" rtl="0">
              <a:lnSpc>
                <a:spcPct val="150000"/>
              </a:lnSpc>
              <a:spcBef>
                <a:spcPts val="0"/>
              </a:spcBef>
              <a:spcAft>
                <a:spcPts val="0"/>
              </a:spcAft>
              <a:buSzPts val="1200"/>
              <a:buFont typeface="Times New Roman"/>
              <a:buChar char="●"/>
            </a:pPr>
            <a:r>
              <a:rPr lang="en" sz="1200" b="1" dirty="0">
                <a:latin typeface="Times New Roman"/>
                <a:ea typeface="Times New Roman"/>
                <a:cs typeface="Times New Roman"/>
                <a:sym typeface="Times New Roman"/>
              </a:rPr>
              <a:t>Siddhartha Parida (25MAS10023) - 50% Contribution</a:t>
            </a:r>
            <a:endParaRPr sz="1200" b="1" dirty="0">
              <a:latin typeface="Times New Roman"/>
              <a:ea typeface="Times New Roman"/>
              <a:cs typeface="Times New Roman"/>
              <a:sym typeface="Times New Roman"/>
            </a:endParaRPr>
          </a:p>
          <a:p>
            <a:pPr marL="457200" lvl="0" indent="0" algn="l" rtl="0">
              <a:lnSpc>
                <a:spcPct val="150000"/>
              </a:lnSpc>
              <a:spcBef>
                <a:spcPts val="1200"/>
              </a:spcBef>
              <a:spcAft>
                <a:spcPts val="0"/>
              </a:spcAft>
              <a:buNone/>
            </a:pPr>
            <a:r>
              <a:rPr lang="en" sz="1200" dirty="0">
                <a:latin typeface="Times New Roman"/>
                <a:ea typeface="Times New Roman"/>
                <a:cs typeface="Times New Roman"/>
                <a:sym typeface="Times New Roman"/>
              </a:rPr>
              <a:t>- Defined 50% of the rules, i.e. 25 rules in total for the knowledge base(KB).</a:t>
            </a:r>
            <a:endParaRPr sz="1200" dirty="0">
              <a:latin typeface="Times New Roman"/>
              <a:ea typeface="Times New Roman"/>
              <a:cs typeface="Times New Roman"/>
              <a:sym typeface="Times New Roman"/>
            </a:endParaRPr>
          </a:p>
          <a:p>
            <a:pPr marL="457200" lvl="0" indent="0" algn="l" rtl="0">
              <a:lnSpc>
                <a:spcPct val="150000"/>
              </a:lnSpc>
              <a:spcBef>
                <a:spcPts val="1200"/>
              </a:spcBef>
              <a:spcAft>
                <a:spcPts val="0"/>
              </a:spcAft>
              <a:buNone/>
            </a:pPr>
            <a:r>
              <a:rPr lang="en" sz="1200" dirty="0">
                <a:latin typeface="Times New Roman"/>
                <a:ea typeface="Times New Roman"/>
                <a:cs typeface="Times New Roman"/>
                <a:sym typeface="Times New Roman"/>
              </a:rPr>
              <a:t>- Built and worked on the logic of the model, i.e. on how the rules will be compared and updating of the scores.</a:t>
            </a:r>
            <a:endParaRPr sz="1200" dirty="0">
              <a:latin typeface="Times New Roman"/>
              <a:ea typeface="Times New Roman"/>
              <a:cs typeface="Times New Roman"/>
              <a:sym typeface="Times New Roman"/>
            </a:endParaRPr>
          </a:p>
          <a:p>
            <a:pPr marL="457200" lvl="0" indent="-304800" algn="l" rtl="0">
              <a:lnSpc>
                <a:spcPct val="150000"/>
              </a:lnSpc>
              <a:spcBef>
                <a:spcPts val="1200"/>
              </a:spcBef>
              <a:spcAft>
                <a:spcPts val="0"/>
              </a:spcAft>
              <a:buSzPts val="1200"/>
              <a:buFont typeface="Times New Roman"/>
              <a:buChar char="●"/>
            </a:pPr>
            <a:r>
              <a:rPr lang="en" sz="1200" b="1" dirty="0">
                <a:latin typeface="Times New Roman"/>
                <a:ea typeface="Times New Roman"/>
                <a:cs typeface="Times New Roman"/>
                <a:sym typeface="Times New Roman"/>
              </a:rPr>
              <a:t>Anirudh Narayanan (25MAS10011) - 50% Contribution</a:t>
            </a:r>
            <a:endParaRPr sz="1200" b="1" dirty="0">
              <a:latin typeface="Times New Roman"/>
              <a:ea typeface="Times New Roman"/>
              <a:cs typeface="Times New Roman"/>
              <a:sym typeface="Times New Roman"/>
            </a:endParaRPr>
          </a:p>
          <a:p>
            <a:pPr marL="457200" lvl="0" indent="0" algn="l" rtl="0">
              <a:lnSpc>
                <a:spcPct val="150000"/>
              </a:lnSpc>
              <a:spcBef>
                <a:spcPts val="1200"/>
              </a:spcBef>
              <a:spcAft>
                <a:spcPts val="0"/>
              </a:spcAft>
              <a:buNone/>
            </a:pPr>
            <a:r>
              <a:rPr lang="en" sz="1200" dirty="0">
                <a:latin typeface="Times New Roman"/>
                <a:ea typeface="Times New Roman"/>
                <a:cs typeface="Times New Roman"/>
                <a:sym typeface="Times New Roman"/>
              </a:rPr>
              <a:t>- Defined 50% of the rules, i.e. 25 rules in total for the knowledge base(KB)</a:t>
            </a:r>
            <a:endParaRPr sz="1200" dirty="0">
              <a:latin typeface="Times New Roman"/>
              <a:ea typeface="Times New Roman"/>
              <a:cs typeface="Times New Roman"/>
              <a:sym typeface="Times New Roman"/>
            </a:endParaRPr>
          </a:p>
          <a:p>
            <a:pPr marL="457200" lvl="0" indent="0" algn="l" rtl="0">
              <a:lnSpc>
                <a:spcPct val="150000"/>
              </a:lnSpc>
              <a:spcBef>
                <a:spcPts val="1200"/>
              </a:spcBef>
              <a:spcAft>
                <a:spcPts val="0"/>
              </a:spcAft>
              <a:buNone/>
            </a:pPr>
            <a:r>
              <a:rPr lang="en" sz="1200" dirty="0">
                <a:latin typeface="Times New Roman"/>
                <a:ea typeface="Times New Roman"/>
                <a:cs typeface="Times New Roman"/>
                <a:sym typeface="Times New Roman"/>
              </a:rPr>
              <a:t>- Built and worked on the input of applicants (information) to be compared with the knowledge base defined to produce an output showing all three applicant types (Approved, Denied and Manual Approval).</a:t>
            </a:r>
            <a:endParaRPr sz="1200" dirty="0">
              <a:latin typeface="Times New Roman"/>
              <a:ea typeface="Times New Roman"/>
              <a:cs typeface="Times New Roman"/>
              <a:sym typeface="Times New Roman"/>
            </a:endParaRPr>
          </a:p>
          <a:p>
            <a:pPr marL="457200" lvl="0" indent="0" algn="l" rtl="0">
              <a:lnSpc>
                <a:spcPct val="150000"/>
              </a:lnSpc>
              <a:spcBef>
                <a:spcPts val="1200"/>
              </a:spcBef>
              <a:spcAft>
                <a:spcPts val="1200"/>
              </a:spcAft>
              <a:buNone/>
            </a:pPr>
            <a:endParaRPr sz="1000" dirty="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4" name="Rectangle 3"/>
          <p:cNvSpPr/>
          <p:nvPr/>
        </p:nvSpPr>
        <p:spPr>
          <a:xfrm>
            <a:off x="0" y="0"/>
            <a:ext cx="9144000" cy="1376529"/>
          </a:xfrm>
          <a:prstGeom prst="rect">
            <a:avLst/>
          </a:prstGeom>
          <a:solidFill>
            <a:srgbClr val="A8C7FA"/>
          </a:solidFill>
          <a:ln>
            <a:solidFill>
              <a:schemeClr val="accent1">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dirty="0">
                <a:latin typeface="Times New Roman"/>
                <a:ea typeface="Times New Roman"/>
                <a:cs typeface="Times New Roman"/>
                <a:sym typeface="Times New Roman"/>
              </a:rPr>
              <a:t>Agenda</a:t>
            </a:r>
            <a:endParaRPr b="1" dirty="0">
              <a:latin typeface="Times New Roman"/>
              <a:ea typeface="Times New Roman"/>
              <a:cs typeface="Times New Roman"/>
              <a:sym typeface="Times New Roman"/>
            </a:endParaRPr>
          </a:p>
        </p:txBody>
      </p:sp>
      <p:sp>
        <p:nvSpPr>
          <p:cNvPr id="68" name="Google Shape;68;p15"/>
          <p:cNvSpPr txBox="1">
            <a:spLocks noGrp="1"/>
          </p:cNvSpPr>
          <p:nvPr>
            <p:ph type="body" idx="1"/>
          </p:nvPr>
        </p:nvSpPr>
        <p:spPr>
          <a:xfrm>
            <a:off x="311700" y="1327822"/>
            <a:ext cx="8520600" cy="3416400"/>
          </a:xfrm>
          <a:prstGeom prst="rect">
            <a:avLst/>
          </a:prstGeom>
        </p:spPr>
        <p:txBody>
          <a:bodyPr spcFirstLastPara="1" wrap="square" lIns="91425" tIns="91425" rIns="91425" bIns="91425" anchor="t" anchorCtr="0">
            <a:normAutofit fontScale="92500" lnSpcReduction="10000"/>
          </a:bodyPr>
          <a:lstStyle/>
          <a:p>
            <a:pPr marL="457200" lvl="0" indent="-304800" algn="l"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Introduction</a:t>
            </a:r>
            <a:endParaRPr sz="120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System Architecture</a:t>
            </a:r>
            <a:endParaRPr sz="120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Knowledge Base</a:t>
            </a:r>
            <a:endParaRPr sz="120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Inference Engine</a:t>
            </a:r>
            <a:endParaRPr sz="120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Case Studies and Outputs</a:t>
            </a:r>
            <a:endParaRPr sz="120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Advantages and Limitations</a:t>
            </a:r>
            <a:endParaRPr sz="120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Future Aspects and Conclusion</a:t>
            </a:r>
            <a:endParaRPr sz="12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4" name="Rectangle 3"/>
          <p:cNvSpPr/>
          <p:nvPr/>
        </p:nvSpPr>
        <p:spPr>
          <a:xfrm>
            <a:off x="0" y="0"/>
            <a:ext cx="9144000" cy="1376529"/>
          </a:xfrm>
          <a:prstGeom prst="rect">
            <a:avLst/>
          </a:prstGeom>
          <a:solidFill>
            <a:srgbClr val="A8C7FA"/>
          </a:solidFill>
          <a:ln>
            <a:solidFill>
              <a:schemeClr val="accent1">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
        <p:nvSpPr>
          <p:cNvPr id="74" name="Google Shape;74;p16"/>
          <p:cNvSpPr txBox="1">
            <a:spLocks noGrp="1"/>
          </p:cNvSpPr>
          <p:nvPr>
            <p:ph type="body" idx="1"/>
          </p:nvPr>
        </p:nvSpPr>
        <p:spPr>
          <a:xfrm>
            <a:off x="311700" y="1376529"/>
            <a:ext cx="8520600" cy="3416400"/>
          </a:xfrm>
          <a:prstGeom prst="rect">
            <a:avLst/>
          </a:prstGeom>
        </p:spPr>
        <p:txBody>
          <a:bodyPr spcFirstLastPara="1" wrap="square" lIns="91425" tIns="91425" rIns="91425" bIns="91425" anchor="t" anchorCtr="0">
            <a:normAutofit/>
          </a:bodyPr>
          <a:lstStyle/>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Manual loan approval is </a:t>
            </a:r>
            <a:r>
              <a:rPr lang="en" sz="1200" b="1" dirty="0">
                <a:solidFill>
                  <a:schemeClr val="dk1"/>
                </a:solidFill>
                <a:latin typeface="Times New Roman"/>
                <a:ea typeface="Times New Roman"/>
                <a:cs typeface="Times New Roman"/>
                <a:sym typeface="Times New Roman"/>
              </a:rPr>
              <a:t>time-consuming and inconsistent</a:t>
            </a:r>
            <a:r>
              <a:rPr lang="en" sz="1200" dirty="0">
                <a:solidFill>
                  <a:schemeClr val="dk1"/>
                </a:solidFill>
                <a:latin typeface="Times New Roman"/>
                <a:ea typeface="Times New Roman"/>
                <a:cs typeface="Times New Roman"/>
                <a:sym typeface="Times New Roman"/>
              </a:rPr>
              <a:t>.</a:t>
            </a:r>
            <a:endParaRPr sz="12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Need for a </a:t>
            </a:r>
            <a:r>
              <a:rPr lang="en" sz="1200" b="1" dirty="0">
                <a:solidFill>
                  <a:schemeClr val="dk1"/>
                </a:solidFill>
                <a:latin typeface="Times New Roman"/>
                <a:ea typeface="Times New Roman"/>
                <a:cs typeface="Times New Roman"/>
                <a:sym typeface="Times New Roman"/>
              </a:rPr>
              <a:t>systematic, unbiased, and efficient</a:t>
            </a:r>
            <a:r>
              <a:rPr lang="en" sz="1200" dirty="0">
                <a:solidFill>
                  <a:schemeClr val="dk1"/>
                </a:solidFill>
                <a:latin typeface="Times New Roman"/>
                <a:ea typeface="Times New Roman"/>
                <a:cs typeface="Times New Roman"/>
                <a:sym typeface="Times New Roman"/>
              </a:rPr>
              <a:t> decision mechanism.</a:t>
            </a:r>
            <a:endParaRPr sz="12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Our system is </a:t>
            </a:r>
            <a:r>
              <a:rPr lang="en" sz="1200" b="1" dirty="0">
                <a:solidFill>
                  <a:schemeClr val="dk1"/>
                </a:solidFill>
                <a:latin typeface="Times New Roman"/>
                <a:ea typeface="Times New Roman"/>
                <a:cs typeface="Times New Roman"/>
                <a:sym typeface="Times New Roman"/>
              </a:rPr>
              <a:t>score-based</a:t>
            </a:r>
            <a:r>
              <a:rPr lang="en" sz="1200" dirty="0">
                <a:solidFill>
                  <a:schemeClr val="dk1"/>
                </a:solidFill>
                <a:latin typeface="Times New Roman"/>
                <a:ea typeface="Times New Roman"/>
                <a:cs typeface="Times New Roman"/>
                <a:sym typeface="Times New Roman"/>
              </a:rPr>
              <a:t>, the scores are calculated as the system moves through rules.</a:t>
            </a:r>
            <a:endParaRPr sz="12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Final categories by score:</a:t>
            </a:r>
            <a:endParaRPr sz="1200" dirty="0">
              <a:solidFill>
                <a:schemeClr val="dk1"/>
              </a:solidFill>
              <a:latin typeface="Times New Roman"/>
              <a:ea typeface="Times New Roman"/>
              <a:cs typeface="Times New Roman"/>
              <a:sym typeface="Times New Roman"/>
            </a:endParaRPr>
          </a:p>
          <a:p>
            <a:pPr marL="914400" lvl="1" indent="-304800" algn="l" rtl="0">
              <a:lnSpc>
                <a:spcPct val="150000"/>
              </a:lnSpc>
              <a:spcBef>
                <a:spcPts val="0"/>
              </a:spcBef>
              <a:spcAft>
                <a:spcPts val="0"/>
              </a:spcAft>
              <a:buClr>
                <a:schemeClr val="dk1"/>
              </a:buClr>
              <a:buSzPts val="1200"/>
              <a:buFont typeface="Times New Roman"/>
              <a:buAutoNum type="alphaLcPeriod"/>
            </a:pPr>
            <a:r>
              <a:rPr lang="en" sz="1200" b="1" dirty="0">
                <a:solidFill>
                  <a:schemeClr val="dk1"/>
                </a:solidFill>
                <a:latin typeface="Times New Roman"/>
                <a:ea typeface="Times New Roman"/>
                <a:cs typeface="Times New Roman"/>
                <a:sym typeface="Times New Roman"/>
              </a:rPr>
              <a:t>Score &gt; 10</a:t>
            </a:r>
            <a:r>
              <a:rPr lang="en" sz="1200" dirty="0">
                <a:solidFill>
                  <a:schemeClr val="dk1"/>
                </a:solidFill>
                <a:latin typeface="Times New Roman"/>
                <a:ea typeface="Times New Roman"/>
                <a:cs typeface="Times New Roman"/>
                <a:sym typeface="Times New Roman"/>
              </a:rPr>
              <a:t>: Approved.</a:t>
            </a:r>
            <a:endParaRPr sz="1200" dirty="0">
              <a:solidFill>
                <a:schemeClr val="dk1"/>
              </a:solidFill>
              <a:latin typeface="Times New Roman"/>
              <a:ea typeface="Times New Roman"/>
              <a:cs typeface="Times New Roman"/>
              <a:sym typeface="Times New Roman"/>
            </a:endParaRPr>
          </a:p>
          <a:p>
            <a:pPr marL="914400" lvl="1" indent="-304800" algn="l" rtl="0">
              <a:lnSpc>
                <a:spcPct val="150000"/>
              </a:lnSpc>
              <a:spcBef>
                <a:spcPts val="0"/>
              </a:spcBef>
              <a:spcAft>
                <a:spcPts val="0"/>
              </a:spcAft>
              <a:buClr>
                <a:schemeClr val="dk1"/>
              </a:buClr>
              <a:buSzPts val="1200"/>
              <a:buFont typeface="Times New Roman"/>
              <a:buAutoNum type="alphaLcPeriod"/>
            </a:pPr>
            <a:r>
              <a:rPr lang="en" sz="1200" b="1" dirty="0">
                <a:solidFill>
                  <a:schemeClr val="dk1"/>
                </a:solidFill>
                <a:latin typeface="Times New Roman"/>
                <a:ea typeface="Times New Roman"/>
                <a:cs typeface="Times New Roman"/>
                <a:sym typeface="Times New Roman"/>
              </a:rPr>
              <a:t>Score 0-10</a:t>
            </a:r>
            <a:r>
              <a:rPr lang="en" sz="1200" dirty="0">
                <a:solidFill>
                  <a:schemeClr val="dk1"/>
                </a:solidFill>
                <a:latin typeface="Times New Roman"/>
                <a:ea typeface="Times New Roman"/>
                <a:cs typeface="Times New Roman"/>
                <a:sym typeface="Times New Roman"/>
              </a:rPr>
              <a:t>: Requires Manual Review.</a:t>
            </a:r>
            <a:endParaRPr sz="1200" dirty="0">
              <a:solidFill>
                <a:schemeClr val="dk1"/>
              </a:solidFill>
              <a:latin typeface="Times New Roman"/>
              <a:ea typeface="Times New Roman"/>
              <a:cs typeface="Times New Roman"/>
              <a:sym typeface="Times New Roman"/>
            </a:endParaRPr>
          </a:p>
          <a:p>
            <a:pPr marL="914400" lvl="1" indent="-304800" algn="l" rtl="0">
              <a:lnSpc>
                <a:spcPct val="150000"/>
              </a:lnSpc>
              <a:spcBef>
                <a:spcPts val="0"/>
              </a:spcBef>
              <a:spcAft>
                <a:spcPts val="0"/>
              </a:spcAft>
              <a:buClr>
                <a:schemeClr val="dk1"/>
              </a:buClr>
              <a:buSzPts val="1200"/>
              <a:buFont typeface="Times New Roman"/>
              <a:buAutoNum type="alphaLcPeriod"/>
            </a:pPr>
            <a:r>
              <a:rPr lang="en" sz="1200" b="1" dirty="0">
                <a:solidFill>
                  <a:schemeClr val="dk1"/>
                </a:solidFill>
                <a:latin typeface="Times New Roman"/>
                <a:ea typeface="Times New Roman"/>
                <a:cs typeface="Times New Roman"/>
                <a:sym typeface="Times New Roman"/>
              </a:rPr>
              <a:t>Score &lt; 0</a:t>
            </a:r>
            <a:r>
              <a:rPr lang="en" sz="1200" dirty="0">
                <a:solidFill>
                  <a:schemeClr val="dk1"/>
                </a:solidFill>
                <a:latin typeface="Times New Roman"/>
                <a:ea typeface="Times New Roman"/>
                <a:cs typeface="Times New Roman"/>
                <a:sym typeface="Times New Roman"/>
              </a:rPr>
              <a:t>: Declined.</a:t>
            </a:r>
            <a:endParaRPr sz="1200" dirty="0">
              <a:solidFill>
                <a:schemeClr val="dk1"/>
              </a:solidFill>
              <a:latin typeface="Times New Roman"/>
              <a:ea typeface="Times New Roman"/>
              <a:cs typeface="Times New Roman"/>
              <a:sym typeface="Times New Roman"/>
            </a:endParaRPr>
          </a:p>
          <a:p>
            <a:pPr marL="0" lvl="0" indent="0" algn="l" rtl="0">
              <a:spcBef>
                <a:spcPts val="900"/>
              </a:spcBef>
              <a:spcAft>
                <a:spcPts val="0"/>
              </a:spcAft>
              <a:buNone/>
            </a:pPr>
            <a:endParaRPr sz="1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4">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4">
                                            <p:txEl>
                                              <p:pRg st="6" end="6"/>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4">
                                            <p:txEl>
                                              <p:pRg st="7" end="7"/>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4">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5" name="Rectangle 4"/>
          <p:cNvSpPr/>
          <p:nvPr/>
        </p:nvSpPr>
        <p:spPr>
          <a:xfrm>
            <a:off x="0" y="0"/>
            <a:ext cx="9144000" cy="1376529"/>
          </a:xfrm>
          <a:prstGeom prst="rect">
            <a:avLst/>
          </a:prstGeom>
          <a:solidFill>
            <a:srgbClr val="A8C7FA"/>
          </a:solidFill>
          <a:ln>
            <a:solidFill>
              <a:schemeClr val="accent1">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System Architecture</a:t>
            </a:r>
            <a:endParaRPr b="1">
              <a:latin typeface="Times New Roman"/>
              <a:ea typeface="Times New Roman"/>
              <a:cs typeface="Times New Roman"/>
              <a:sym typeface="Times New Roman"/>
            </a:endParaRPr>
          </a:p>
        </p:txBody>
      </p:sp>
      <p:sp>
        <p:nvSpPr>
          <p:cNvPr id="80" name="Google Shape;80;p17"/>
          <p:cNvSpPr txBox="1">
            <a:spLocks noGrp="1"/>
          </p:cNvSpPr>
          <p:nvPr>
            <p:ph type="body" idx="1"/>
          </p:nvPr>
        </p:nvSpPr>
        <p:spPr>
          <a:xfrm>
            <a:off x="311700" y="1454456"/>
            <a:ext cx="3546600" cy="2883300"/>
          </a:xfrm>
          <a:prstGeom prst="rect">
            <a:avLst/>
          </a:prstGeom>
        </p:spPr>
        <p:txBody>
          <a:bodyPr spcFirstLastPara="1" wrap="square" lIns="91425" tIns="91425" rIns="91425" bIns="91425" anchor="t" anchorCtr="0">
            <a:normAutofit/>
          </a:bodyPr>
          <a:lstStyle/>
          <a:p>
            <a:pPr marL="457200" lvl="0" indent="-304800" algn="l" rtl="0">
              <a:lnSpc>
                <a:spcPct val="150000"/>
              </a:lnSpc>
              <a:spcBef>
                <a:spcPts val="0"/>
              </a:spcBef>
              <a:spcAft>
                <a:spcPts val="0"/>
              </a:spcAft>
              <a:buClr>
                <a:schemeClr val="dk1"/>
              </a:buClr>
              <a:buSzPts val="1200"/>
              <a:buFont typeface="Times New Roman"/>
              <a:buChar char="●"/>
            </a:pPr>
            <a:r>
              <a:rPr lang="en" sz="1200" b="1" dirty="0">
                <a:solidFill>
                  <a:schemeClr val="dk1"/>
                </a:solidFill>
                <a:latin typeface="Times New Roman"/>
                <a:ea typeface="Times New Roman"/>
                <a:cs typeface="Times New Roman"/>
                <a:sym typeface="Times New Roman"/>
              </a:rPr>
              <a:t>Forward-chaining, rule-based</a:t>
            </a:r>
            <a:r>
              <a:rPr lang="en" sz="1200" dirty="0">
                <a:solidFill>
                  <a:schemeClr val="dk1"/>
                </a:solidFill>
                <a:latin typeface="Times New Roman"/>
                <a:ea typeface="Times New Roman"/>
                <a:cs typeface="Times New Roman"/>
                <a:sym typeface="Times New Roman"/>
              </a:rPr>
              <a:t> system.</a:t>
            </a:r>
            <a:endParaRPr sz="12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Evaluates applicants using </a:t>
            </a:r>
            <a:r>
              <a:rPr lang="en" sz="1200" b="1" dirty="0">
                <a:solidFill>
                  <a:schemeClr val="dk1"/>
                </a:solidFill>
                <a:latin typeface="Times New Roman"/>
                <a:ea typeface="Times New Roman"/>
                <a:cs typeface="Times New Roman"/>
                <a:sym typeface="Times New Roman"/>
              </a:rPr>
              <a:t>scores</a:t>
            </a:r>
            <a:r>
              <a:rPr lang="en" sz="1200" dirty="0">
                <a:solidFill>
                  <a:schemeClr val="dk1"/>
                </a:solidFill>
                <a:latin typeface="Times New Roman"/>
                <a:ea typeface="Times New Roman"/>
                <a:cs typeface="Times New Roman"/>
                <a:sym typeface="Times New Roman"/>
              </a:rPr>
              <a:t> derived from their financial information.</a:t>
            </a:r>
            <a:endParaRPr sz="12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b="1" dirty="0">
                <a:solidFill>
                  <a:schemeClr val="dk1"/>
                </a:solidFill>
                <a:latin typeface="Times New Roman"/>
                <a:ea typeface="Times New Roman"/>
                <a:cs typeface="Times New Roman"/>
                <a:sym typeface="Times New Roman"/>
              </a:rPr>
              <a:t>50 IF-THEN rules</a:t>
            </a:r>
            <a:r>
              <a:rPr lang="en" sz="1200" dirty="0">
                <a:solidFill>
                  <a:schemeClr val="dk1"/>
                </a:solidFill>
                <a:latin typeface="Times New Roman"/>
                <a:ea typeface="Times New Roman"/>
                <a:cs typeface="Times New Roman"/>
                <a:sym typeface="Times New Roman"/>
              </a:rPr>
              <a:t> covering credit, income, employment, debts and loan details.</a:t>
            </a:r>
            <a:endParaRPr sz="12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dirty="0"/>
          </a:p>
        </p:txBody>
      </p:sp>
      <p:pic>
        <p:nvPicPr>
          <p:cNvPr id="81" name="Google Shape;81;p17"/>
          <p:cNvPicPr preferRelativeResize="0"/>
          <p:nvPr/>
        </p:nvPicPr>
        <p:blipFill>
          <a:blip r:embed="rId3">
            <a:alphaModFix/>
          </a:blip>
          <a:stretch>
            <a:fillRect/>
          </a:stretch>
        </p:blipFill>
        <p:spPr>
          <a:xfrm>
            <a:off x="4130526" y="1462750"/>
            <a:ext cx="4364320" cy="354966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5" name="Rectangle 4"/>
          <p:cNvSpPr/>
          <p:nvPr/>
        </p:nvSpPr>
        <p:spPr>
          <a:xfrm>
            <a:off x="0" y="0"/>
            <a:ext cx="9144000" cy="1376529"/>
          </a:xfrm>
          <a:prstGeom prst="rect">
            <a:avLst/>
          </a:prstGeom>
          <a:solidFill>
            <a:srgbClr val="A8C7FA"/>
          </a:solidFill>
          <a:ln>
            <a:solidFill>
              <a:schemeClr val="accent1">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6" name="Google Shape;86;p18"/>
          <p:cNvSpPr txBox="1">
            <a:spLocks noGrp="1"/>
          </p:cNvSpPr>
          <p:nvPr>
            <p:ph type="title"/>
          </p:nvPr>
        </p:nvSpPr>
        <p:spPr>
          <a:xfrm>
            <a:off x="311700" y="4945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Knowledge Base</a:t>
            </a:r>
            <a:endParaRPr b="1">
              <a:latin typeface="Times New Roman"/>
              <a:ea typeface="Times New Roman"/>
              <a:cs typeface="Times New Roman"/>
              <a:sym typeface="Times New Roman"/>
            </a:endParaRPr>
          </a:p>
        </p:txBody>
      </p:sp>
      <p:pic>
        <p:nvPicPr>
          <p:cNvPr id="87" name="Google Shape;87;p18" title="table.png"/>
          <p:cNvPicPr preferRelativeResize="0"/>
          <p:nvPr/>
        </p:nvPicPr>
        <p:blipFill>
          <a:blip r:embed="rId3">
            <a:alphaModFix/>
          </a:blip>
          <a:stretch>
            <a:fillRect/>
          </a:stretch>
        </p:blipFill>
        <p:spPr>
          <a:xfrm>
            <a:off x="837617" y="2087064"/>
            <a:ext cx="7315201" cy="2671575"/>
          </a:xfrm>
          <a:prstGeom prst="rect">
            <a:avLst/>
          </a:prstGeom>
          <a:noFill/>
          <a:ln>
            <a:noFill/>
          </a:ln>
        </p:spPr>
      </p:pic>
      <p:sp>
        <p:nvSpPr>
          <p:cNvPr id="88" name="Google Shape;88;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800"/>
              </a:spcBef>
              <a:spcAft>
                <a:spcPts val="400"/>
              </a:spcAft>
              <a:buNone/>
            </a:pPr>
            <a:r>
              <a:rPr lang="en" sz="1200" dirty="0">
                <a:solidFill>
                  <a:schemeClr val="dk1"/>
                </a:solidFill>
                <a:latin typeface="Times New Roman"/>
                <a:ea typeface="Times New Roman"/>
                <a:cs typeface="Times New Roman"/>
                <a:sym typeface="Times New Roman"/>
              </a:rPr>
              <a:t>We have used a </a:t>
            </a:r>
            <a:r>
              <a:rPr lang="en" sz="1200" b="1" dirty="0">
                <a:solidFill>
                  <a:schemeClr val="dk1"/>
                </a:solidFill>
                <a:latin typeface="Times New Roman"/>
                <a:ea typeface="Times New Roman"/>
                <a:cs typeface="Times New Roman"/>
                <a:sym typeface="Times New Roman"/>
              </a:rPr>
              <a:t>five-category</a:t>
            </a:r>
            <a:r>
              <a:rPr lang="en" sz="1200" dirty="0">
                <a:solidFill>
                  <a:schemeClr val="dk1"/>
                </a:solidFill>
                <a:latin typeface="Times New Roman"/>
                <a:ea typeface="Times New Roman"/>
                <a:cs typeface="Times New Roman"/>
                <a:sym typeface="Times New Roman"/>
              </a:rPr>
              <a:t> Knowledge Base (KB) that covers all the important features for the expert system to compute a logically correct and decisive decision.</a:t>
            </a:r>
            <a:endParaRPr dirty="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graphicFrame>
        <p:nvGraphicFramePr>
          <p:cNvPr id="93" name="Google Shape;93;p19"/>
          <p:cNvGraphicFramePr/>
          <p:nvPr/>
        </p:nvGraphicFramePr>
        <p:xfrm>
          <a:off x="311688" y="468837"/>
          <a:ext cx="8520600" cy="4205910"/>
        </p:xfrm>
        <a:graphic>
          <a:graphicData uri="http://schemas.openxmlformats.org/drawingml/2006/table">
            <a:tbl>
              <a:tblPr>
                <a:noFill/>
                <a:tableStyleId>{0CA1C0A9-E724-4EB8-9205-1E6B2117479A}</a:tableStyleId>
              </a:tblPr>
              <a:tblGrid>
                <a:gridCol w="2577425">
                  <a:extLst>
                    <a:ext uri="{9D8B030D-6E8A-4147-A177-3AD203B41FA5}">
                      <a16:colId xmlns:a16="http://schemas.microsoft.com/office/drawing/2014/main" val="20000"/>
                    </a:ext>
                  </a:extLst>
                </a:gridCol>
                <a:gridCol w="2160175">
                  <a:extLst>
                    <a:ext uri="{9D8B030D-6E8A-4147-A177-3AD203B41FA5}">
                      <a16:colId xmlns:a16="http://schemas.microsoft.com/office/drawing/2014/main" val="20001"/>
                    </a:ext>
                  </a:extLst>
                </a:gridCol>
                <a:gridCol w="1863825">
                  <a:extLst>
                    <a:ext uri="{9D8B030D-6E8A-4147-A177-3AD203B41FA5}">
                      <a16:colId xmlns:a16="http://schemas.microsoft.com/office/drawing/2014/main" val="20002"/>
                    </a:ext>
                  </a:extLst>
                </a:gridCol>
                <a:gridCol w="1223000">
                  <a:extLst>
                    <a:ext uri="{9D8B030D-6E8A-4147-A177-3AD203B41FA5}">
                      <a16:colId xmlns:a16="http://schemas.microsoft.com/office/drawing/2014/main" val="20003"/>
                    </a:ext>
                  </a:extLst>
                </a:gridCol>
                <a:gridCol w="696175">
                  <a:extLst>
                    <a:ext uri="{9D8B030D-6E8A-4147-A177-3AD203B41FA5}">
                      <a16:colId xmlns:a16="http://schemas.microsoft.com/office/drawing/2014/main" val="20004"/>
                    </a:ext>
                  </a:extLst>
                </a:gridCol>
              </a:tblGrid>
              <a:tr h="281850">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Category</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Rule Name</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IF Condition</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THEN Action</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Score </a:t>
                      </a:r>
                      <a:endParaRPr sz="1200"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281850">
                <a:tc>
                  <a:txBody>
                    <a:bodyPr/>
                    <a:lstStyle/>
                    <a:p>
                      <a:pPr marL="457200" lvl="0" indent="-304800" algn="l" rtl="0">
                        <a:lnSpc>
                          <a:spcPct val="100000"/>
                        </a:lnSpc>
                        <a:spcBef>
                          <a:spcPts val="0"/>
                        </a:spcBef>
                        <a:spcAft>
                          <a:spcPts val="0"/>
                        </a:spcAft>
                        <a:buSzPts val="1200"/>
                        <a:buFont typeface="Times New Roman"/>
                        <a:buAutoNum type="arabicPeriod"/>
                      </a:pPr>
                      <a:r>
                        <a:rPr lang="en" sz="1200" b="1">
                          <a:latin typeface="Times New Roman"/>
                          <a:ea typeface="Times New Roman"/>
                          <a:cs typeface="Times New Roman"/>
                          <a:sym typeface="Times New Roman"/>
                        </a:rPr>
                        <a:t>Credit Score and Bankruptcy</a:t>
                      </a:r>
                      <a:endParaRPr sz="1200" b="1">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Excellent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Credit Score &gt;= 800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+20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Very Good </a:t>
                      </a:r>
                      <a:r>
                        <a:rPr lang="en" sz="1200">
                          <a:solidFill>
                            <a:schemeClr val="dk1"/>
                          </a:solidFill>
                          <a:latin typeface="Times New Roman"/>
                          <a:ea typeface="Times New Roman"/>
                          <a:cs typeface="Times New Roman"/>
                          <a:sym typeface="Times New Roman"/>
                        </a:rPr>
                        <a:t>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740 &lt;= Credit Score &lt; 800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+15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Good </a:t>
                      </a:r>
                      <a:r>
                        <a:rPr lang="en" sz="1200">
                          <a:solidFill>
                            <a:schemeClr val="dk1"/>
                          </a:solidFill>
                          <a:latin typeface="Times New Roman"/>
                          <a:ea typeface="Times New Roman"/>
                          <a:cs typeface="Times New Roman"/>
                          <a:sym typeface="Times New Roman"/>
                        </a:rPr>
                        <a:t>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670 &lt;= Credit Score &lt; 740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Fair </a:t>
                      </a:r>
                      <a:r>
                        <a:rPr lang="en" sz="1200">
                          <a:solidFill>
                            <a:schemeClr val="dk1"/>
                          </a:solidFill>
                          <a:latin typeface="Times New Roman"/>
                          <a:ea typeface="Times New Roman"/>
                          <a:cs typeface="Times New Roman"/>
                          <a:sym typeface="Times New Roman"/>
                        </a:rPr>
                        <a:t>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580 ≤ Credit Score &lt; 670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Poor </a:t>
                      </a:r>
                      <a:r>
                        <a:rPr lang="en" sz="1200">
                          <a:solidFill>
                            <a:schemeClr val="dk1"/>
                          </a:solidFill>
                          <a:latin typeface="Times New Roman"/>
                          <a:ea typeface="Times New Roman"/>
                          <a:cs typeface="Times New Roman"/>
                          <a:sym typeface="Times New Roman"/>
                        </a:rPr>
                        <a:t>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Credit Score &lt; 580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-25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Recent Bankruptcy</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In last 7 yrs = True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-30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284475">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No Recent Bankruptcy</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In last 7 yrs = False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331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Multiple Recent Credit Inquiries</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In last 2 yrs &gt;= 5</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284475">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History of Late Payments</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In last 2yrs &gt;= 2</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331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No Late payments</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In last 2yrs = 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graphicFrame>
        <p:nvGraphicFramePr>
          <p:cNvPr id="98" name="Google Shape;98;p20"/>
          <p:cNvGraphicFramePr/>
          <p:nvPr/>
        </p:nvGraphicFramePr>
        <p:xfrm>
          <a:off x="311675" y="377378"/>
          <a:ext cx="8520625" cy="4388790"/>
        </p:xfrm>
        <a:graphic>
          <a:graphicData uri="http://schemas.openxmlformats.org/drawingml/2006/table">
            <a:tbl>
              <a:tblPr>
                <a:noFill/>
                <a:tableStyleId>{0CA1C0A9-E724-4EB8-9205-1E6B2117479A}</a:tableStyleId>
              </a:tblPr>
              <a:tblGrid>
                <a:gridCol w="1875000">
                  <a:extLst>
                    <a:ext uri="{9D8B030D-6E8A-4147-A177-3AD203B41FA5}">
                      <a16:colId xmlns:a16="http://schemas.microsoft.com/office/drawing/2014/main" val="20000"/>
                    </a:ext>
                  </a:extLst>
                </a:gridCol>
                <a:gridCol w="1996600">
                  <a:extLst>
                    <a:ext uri="{9D8B030D-6E8A-4147-A177-3AD203B41FA5}">
                      <a16:colId xmlns:a16="http://schemas.microsoft.com/office/drawing/2014/main" val="20001"/>
                    </a:ext>
                  </a:extLst>
                </a:gridCol>
                <a:gridCol w="2958850">
                  <a:extLst>
                    <a:ext uri="{9D8B030D-6E8A-4147-A177-3AD203B41FA5}">
                      <a16:colId xmlns:a16="http://schemas.microsoft.com/office/drawing/2014/main" val="20002"/>
                    </a:ext>
                  </a:extLst>
                </a:gridCol>
                <a:gridCol w="1111350">
                  <a:extLst>
                    <a:ext uri="{9D8B030D-6E8A-4147-A177-3AD203B41FA5}">
                      <a16:colId xmlns:a16="http://schemas.microsoft.com/office/drawing/2014/main" val="20003"/>
                    </a:ext>
                  </a:extLst>
                </a:gridCol>
                <a:gridCol w="578825">
                  <a:extLst>
                    <a:ext uri="{9D8B030D-6E8A-4147-A177-3AD203B41FA5}">
                      <a16:colId xmlns:a16="http://schemas.microsoft.com/office/drawing/2014/main" val="20004"/>
                    </a:ext>
                  </a:extLst>
                </a:gridCol>
              </a:tblGrid>
              <a:tr h="329200">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Category</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Rule Name</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IF Condition</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THEN Action</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Score </a:t>
                      </a:r>
                      <a:endParaRPr sz="1200"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29200">
                <a:tc>
                  <a:txBody>
                    <a:bodyPr/>
                    <a:lstStyle/>
                    <a:p>
                      <a:pPr marL="0" lvl="0" indent="0" algn="l" rtl="0">
                        <a:lnSpc>
                          <a:spcPct val="100000"/>
                        </a:lnSpc>
                        <a:spcBef>
                          <a:spcPts val="0"/>
                        </a:spcBef>
                        <a:spcAft>
                          <a:spcPts val="0"/>
                        </a:spcAft>
                        <a:buNone/>
                      </a:pPr>
                      <a:r>
                        <a:rPr lang="en" sz="1200" b="1">
                          <a:solidFill>
                            <a:schemeClr val="dk1"/>
                          </a:solidFill>
                          <a:latin typeface="Times New Roman"/>
                          <a:ea typeface="Times New Roman"/>
                          <a:cs typeface="Times New Roman"/>
                          <a:sym typeface="Times New Roman"/>
                        </a:rPr>
                        <a:t>2. Income &amp; Employment</a:t>
                      </a:r>
                      <a:endParaRPr sz="1200" b="1">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Very High Income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Credit Score &gt;= 800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+20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292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740 &lt;= Credit Score &lt; 800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+15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292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670 &lt;= Credit Score &lt; 740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292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580 ≤ Credit Score &lt; 670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292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Stable Employment</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Credit Score &lt; 580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-25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292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Reasonably Stable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2 ≤ Years at current job &lt; 5</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292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New Employment</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Years at current job &lt; 2</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292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Unemployed</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Employment Status = Unemployed</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-40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4938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Self-Employed, High Earner</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Employment Status = Self-Employed, Income ≥ 100,000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4938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Self-Employed, Low Earner</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Employment Status = Self-Employed, Income &lt; 100,000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graphicFrame>
        <p:nvGraphicFramePr>
          <p:cNvPr id="103" name="Google Shape;103;p21"/>
          <p:cNvGraphicFramePr/>
          <p:nvPr/>
        </p:nvGraphicFramePr>
        <p:xfrm>
          <a:off x="311688" y="468815"/>
          <a:ext cx="8520600" cy="4205910"/>
        </p:xfrm>
        <a:graphic>
          <a:graphicData uri="http://schemas.openxmlformats.org/drawingml/2006/table">
            <a:tbl>
              <a:tblPr>
                <a:noFill/>
                <a:tableStyleId>{0CA1C0A9-E724-4EB8-9205-1E6B2117479A}</a:tableStyleId>
              </a:tblPr>
              <a:tblGrid>
                <a:gridCol w="1923725">
                  <a:extLst>
                    <a:ext uri="{9D8B030D-6E8A-4147-A177-3AD203B41FA5}">
                      <a16:colId xmlns:a16="http://schemas.microsoft.com/office/drawing/2014/main" val="20000"/>
                    </a:ext>
                  </a:extLst>
                </a:gridCol>
                <a:gridCol w="2627775">
                  <a:extLst>
                    <a:ext uri="{9D8B030D-6E8A-4147-A177-3AD203B41FA5}">
                      <a16:colId xmlns:a16="http://schemas.microsoft.com/office/drawing/2014/main" val="20001"/>
                    </a:ext>
                  </a:extLst>
                </a:gridCol>
                <a:gridCol w="2113300">
                  <a:extLst>
                    <a:ext uri="{9D8B030D-6E8A-4147-A177-3AD203B41FA5}">
                      <a16:colId xmlns:a16="http://schemas.microsoft.com/office/drawing/2014/main" val="20002"/>
                    </a:ext>
                  </a:extLst>
                </a:gridCol>
                <a:gridCol w="1121125">
                  <a:extLst>
                    <a:ext uri="{9D8B030D-6E8A-4147-A177-3AD203B41FA5}">
                      <a16:colId xmlns:a16="http://schemas.microsoft.com/office/drawing/2014/main" val="20003"/>
                    </a:ext>
                  </a:extLst>
                </a:gridCol>
                <a:gridCol w="734675">
                  <a:extLst>
                    <a:ext uri="{9D8B030D-6E8A-4147-A177-3AD203B41FA5}">
                      <a16:colId xmlns:a16="http://schemas.microsoft.com/office/drawing/2014/main" val="20004"/>
                    </a:ext>
                  </a:extLst>
                </a:gridCol>
              </a:tblGrid>
              <a:tr h="281850">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Category</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Rule Name</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IF Condition</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THEN Action</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Score </a:t>
                      </a:r>
                      <a:endParaRPr sz="1200"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281850">
                <a:tc>
                  <a:txBody>
                    <a:bodyPr/>
                    <a:lstStyle/>
                    <a:p>
                      <a:pPr marL="0" lvl="0" indent="0" algn="l" rtl="0">
                        <a:lnSpc>
                          <a:spcPct val="100000"/>
                        </a:lnSpc>
                        <a:spcBef>
                          <a:spcPts val="0"/>
                        </a:spcBef>
                        <a:spcAft>
                          <a:spcPts val="0"/>
                        </a:spcAft>
                        <a:buNone/>
                      </a:pPr>
                      <a:r>
                        <a:rPr lang="en" sz="1200" b="1">
                          <a:solidFill>
                            <a:schemeClr val="dk1"/>
                          </a:solidFill>
                          <a:latin typeface="Times New Roman"/>
                          <a:ea typeface="Times New Roman"/>
                          <a:cs typeface="Times New Roman"/>
                          <a:sym typeface="Times New Roman"/>
                        </a:rPr>
                        <a:t>3. Debt &amp; Financial Ratios</a:t>
                      </a:r>
                      <a:endParaRPr sz="1200" b="1">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Very Low Debt-to-Income (DTI) Ratio</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DTI Ratio &lt; 0.20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+15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2604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Low DTI Ratio</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0.20 ≤ DTI Ratio &lt; 0.36</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Acceptable DTI Ratio</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0.36 ≤ DTI Ratio &lt; 0.43</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High DTI Ratio</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DTI Ratio &gt; 0.43</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-15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No Existing Loans</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Has Existing Loan = False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Has Existing Loan</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Has Existing Loan = True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284475">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Large Savings</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Liquid Savings ≥ 50,000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331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Moderate Savings</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10,000 ≤ Liquid Savings &lt; 50,000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284475">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Low Savings</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Liquid Savings &lt; 10,000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331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High Credit Utilization</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Credit Card Utilization &gt; 0.5</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aphicFrame>
        <p:nvGraphicFramePr>
          <p:cNvPr id="108" name="Google Shape;108;p22"/>
          <p:cNvGraphicFramePr/>
          <p:nvPr/>
        </p:nvGraphicFramePr>
        <p:xfrm>
          <a:off x="311688" y="560274"/>
          <a:ext cx="8520600" cy="4023030"/>
        </p:xfrm>
        <a:graphic>
          <a:graphicData uri="http://schemas.openxmlformats.org/drawingml/2006/table">
            <a:tbl>
              <a:tblPr>
                <a:noFill/>
                <a:tableStyleId>{0CA1C0A9-E724-4EB8-9205-1E6B2117479A}</a:tableStyleId>
              </a:tblPr>
              <a:tblGrid>
                <a:gridCol w="1504850">
                  <a:extLst>
                    <a:ext uri="{9D8B030D-6E8A-4147-A177-3AD203B41FA5}">
                      <a16:colId xmlns:a16="http://schemas.microsoft.com/office/drawing/2014/main" val="20000"/>
                    </a:ext>
                  </a:extLst>
                </a:gridCol>
                <a:gridCol w="2453475">
                  <a:extLst>
                    <a:ext uri="{9D8B030D-6E8A-4147-A177-3AD203B41FA5}">
                      <a16:colId xmlns:a16="http://schemas.microsoft.com/office/drawing/2014/main" val="20001"/>
                    </a:ext>
                  </a:extLst>
                </a:gridCol>
                <a:gridCol w="2667525">
                  <a:extLst>
                    <a:ext uri="{9D8B030D-6E8A-4147-A177-3AD203B41FA5}">
                      <a16:colId xmlns:a16="http://schemas.microsoft.com/office/drawing/2014/main" val="20002"/>
                    </a:ext>
                  </a:extLst>
                </a:gridCol>
                <a:gridCol w="1160075">
                  <a:extLst>
                    <a:ext uri="{9D8B030D-6E8A-4147-A177-3AD203B41FA5}">
                      <a16:colId xmlns:a16="http://schemas.microsoft.com/office/drawing/2014/main" val="20003"/>
                    </a:ext>
                  </a:extLst>
                </a:gridCol>
                <a:gridCol w="734675">
                  <a:extLst>
                    <a:ext uri="{9D8B030D-6E8A-4147-A177-3AD203B41FA5}">
                      <a16:colId xmlns:a16="http://schemas.microsoft.com/office/drawing/2014/main" val="20004"/>
                    </a:ext>
                  </a:extLst>
                </a:gridCol>
              </a:tblGrid>
              <a:tr h="281850">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Category</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Rule Name</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IF Condition</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THEN Action</a:t>
                      </a:r>
                      <a:endParaRPr sz="12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b="1">
                          <a:latin typeface="Times New Roman"/>
                          <a:ea typeface="Times New Roman"/>
                          <a:cs typeface="Times New Roman"/>
                          <a:sym typeface="Times New Roman"/>
                        </a:rPr>
                        <a:t>Score </a:t>
                      </a:r>
                      <a:endParaRPr sz="1200"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281850">
                <a:tc>
                  <a:txBody>
                    <a:bodyPr/>
                    <a:lstStyle/>
                    <a:p>
                      <a:pPr marL="0" lvl="0" indent="0" algn="l" rtl="0">
                        <a:lnSpc>
                          <a:spcPct val="100000"/>
                        </a:lnSpc>
                        <a:spcBef>
                          <a:spcPts val="0"/>
                        </a:spcBef>
                        <a:spcAft>
                          <a:spcPts val="0"/>
                        </a:spcAft>
                        <a:buNone/>
                      </a:pPr>
                      <a:r>
                        <a:rPr lang="en" sz="1200" b="1">
                          <a:solidFill>
                            <a:schemeClr val="dk1"/>
                          </a:solidFill>
                          <a:latin typeface="Times New Roman"/>
                          <a:ea typeface="Times New Roman"/>
                          <a:cs typeface="Times New Roman"/>
                          <a:sym typeface="Times New Roman"/>
                        </a:rPr>
                        <a:t>4. Loan Details</a:t>
                      </a:r>
                      <a:endParaRPr sz="1200" b="1">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Small Loan Amount</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 Amount &lt; 10,000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2604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Large Loan Amount</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 Amount &gt; 250,000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Debt Consolidation Loan Purpose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 Purpose = Debt Consolidation</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Home Improvement Loan Purpose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 Purpose = Home Improvement</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Business Loan Purpose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 Purpose = Business</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28185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Low Loan-to-Value Ratio</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Loan-to-Value Ratio &lt; 0.80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284475">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High Loan-to-Value Ratio</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Loan-to-Value Ratio &gt; 0.95</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331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Short Loan Term</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 Term (months) &lt; 36</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284475">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Long Loan Term</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 Term (months) &gt; 60</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33100">
                <a:tc>
                  <a:txBody>
                    <a:bodyPr/>
                    <a:lstStyle/>
                    <a:p>
                      <a:pPr marL="0" lvl="0" indent="0" algn="l" rtl="0">
                        <a:lnSpc>
                          <a:spcPct val="100000"/>
                        </a:lnSpc>
                        <a:spcBef>
                          <a:spcPts val="0"/>
                        </a:spcBef>
                        <a:spcAft>
                          <a:spcPts val="0"/>
                        </a:spcAft>
                        <a:buNone/>
                      </a:pP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 Amount Exceeds Income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Loan Amount &gt; Annual Income</a:t>
                      </a:r>
                      <a:endParaRPr sz="12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200">
                          <a:latin typeface="Times New Roman"/>
                          <a:ea typeface="Times New Roman"/>
                          <a:cs typeface="Times New Roman"/>
                          <a:sym typeface="Times New Roman"/>
                        </a:rPr>
                        <a:t>Adjust Score</a:t>
                      </a:r>
                      <a:endParaRPr sz="12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-20</a:t>
                      </a:r>
                      <a:endParaRPr sz="1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graphicFrame>
        <p:nvGraphicFramePr>
          <p:cNvPr id="113" name="Google Shape;113;p23"/>
          <p:cNvGraphicFramePr/>
          <p:nvPr/>
        </p:nvGraphicFramePr>
        <p:xfrm>
          <a:off x="311688" y="218511"/>
          <a:ext cx="8520600" cy="4764150"/>
        </p:xfrm>
        <a:graphic>
          <a:graphicData uri="http://schemas.openxmlformats.org/drawingml/2006/table">
            <a:tbl>
              <a:tblPr>
                <a:noFill/>
                <a:tableStyleId>{0CA1C0A9-E724-4EB8-9205-1E6B2117479A}</a:tableStyleId>
              </a:tblPr>
              <a:tblGrid>
                <a:gridCol w="1600925">
                  <a:extLst>
                    <a:ext uri="{9D8B030D-6E8A-4147-A177-3AD203B41FA5}">
                      <a16:colId xmlns:a16="http://schemas.microsoft.com/office/drawing/2014/main" val="20000"/>
                    </a:ext>
                  </a:extLst>
                </a:gridCol>
                <a:gridCol w="2147900">
                  <a:extLst>
                    <a:ext uri="{9D8B030D-6E8A-4147-A177-3AD203B41FA5}">
                      <a16:colId xmlns:a16="http://schemas.microsoft.com/office/drawing/2014/main" val="20001"/>
                    </a:ext>
                  </a:extLst>
                </a:gridCol>
                <a:gridCol w="2308175">
                  <a:extLst>
                    <a:ext uri="{9D8B030D-6E8A-4147-A177-3AD203B41FA5}">
                      <a16:colId xmlns:a16="http://schemas.microsoft.com/office/drawing/2014/main" val="20002"/>
                    </a:ext>
                  </a:extLst>
                </a:gridCol>
                <a:gridCol w="1067775">
                  <a:extLst>
                    <a:ext uri="{9D8B030D-6E8A-4147-A177-3AD203B41FA5}">
                      <a16:colId xmlns:a16="http://schemas.microsoft.com/office/drawing/2014/main" val="20003"/>
                    </a:ext>
                  </a:extLst>
                </a:gridCol>
                <a:gridCol w="1395825">
                  <a:extLst>
                    <a:ext uri="{9D8B030D-6E8A-4147-A177-3AD203B41FA5}">
                      <a16:colId xmlns:a16="http://schemas.microsoft.com/office/drawing/2014/main" val="20004"/>
                    </a:ext>
                  </a:extLst>
                </a:gridCol>
              </a:tblGrid>
              <a:tr h="361850">
                <a:tc>
                  <a:txBody>
                    <a:bodyPr/>
                    <a:lstStyle/>
                    <a:p>
                      <a:pPr marL="0" lvl="0" indent="0" algn="ctr" rtl="0">
                        <a:lnSpc>
                          <a:spcPct val="100000"/>
                        </a:lnSpc>
                        <a:spcBef>
                          <a:spcPts val="0"/>
                        </a:spcBef>
                        <a:spcAft>
                          <a:spcPts val="0"/>
                        </a:spcAft>
                        <a:buNone/>
                      </a:pPr>
                      <a:r>
                        <a:rPr lang="en" sz="1000" b="1">
                          <a:latin typeface="Times New Roman"/>
                          <a:ea typeface="Times New Roman"/>
                          <a:cs typeface="Times New Roman"/>
                          <a:sym typeface="Times New Roman"/>
                        </a:rPr>
                        <a:t>Category</a:t>
                      </a:r>
                      <a:endParaRPr sz="10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b="1">
                          <a:latin typeface="Times New Roman"/>
                          <a:ea typeface="Times New Roman"/>
                          <a:cs typeface="Times New Roman"/>
                          <a:sym typeface="Times New Roman"/>
                        </a:rPr>
                        <a:t>Rule Name</a:t>
                      </a:r>
                      <a:endParaRPr sz="10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b="1">
                          <a:latin typeface="Times New Roman"/>
                          <a:ea typeface="Times New Roman"/>
                          <a:cs typeface="Times New Roman"/>
                          <a:sym typeface="Times New Roman"/>
                        </a:rPr>
                        <a:t>IF Condition</a:t>
                      </a:r>
                      <a:endParaRPr sz="10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b="1">
                          <a:latin typeface="Times New Roman"/>
                          <a:ea typeface="Times New Roman"/>
                          <a:cs typeface="Times New Roman"/>
                          <a:sym typeface="Times New Roman"/>
                        </a:rPr>
                        <a:t>THEN Action</a:t>
                      </a:r>
                      <a:endParaRPr sz="1000" b="1">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b="1">
                          <a:latin typeface="Times New Roman"/>
                          <a:ea typeface="Times New Roman"/>
                          <a:cs typeface="Times New Roman"/>
                          <a:sym typeface="Times New Roman"/>
                        </a:rPr>
                        <a:t>Score </a:t>
                      </a:r>
                      <a:endParaRPr sz="1000"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61850">
                <a:tc>
                  <a:txBody>
                    <a:bodyPr/>
                    <a:lstStyle/>
                    <a:p>
                      <a:pPr marL="0" lvl="0" indent="0" algn="l" rtl="0">
                        <a:lnSpc>
                          <a:spcPct val="100000"/>
                        </a:lnSpc>
                        <a:spcBef>
                          <a:spcPts val="0"/>
                        </a:spcBef>
                        <a:spcAft>
                          <a:spcPts val="0"/>
                        </a:spcAft>
                        <a:buNone/>
                      </a:pPr>
                      <a:r>
                        <a:rPr lang="en" sz="1000" b="1">
                          <a:solidFill>
                            <a:schemeClr val="dk1"/>
                          </a:solidFill>
                          <a:latin typeface="Times New Roman"/>
                          <a:ea typeface="Times New Roman"/>
                          <a:cs typeface="Times New Roman"/>
                          <a:sym typeface="Times New Roman"/>
                        </a:rPr>
                        <a:t>5. Combined Risk Factors</a:t>
                      </a:r>
                      <a:endParaRPr sz="1000" b="1">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Risk: Low Income + High DTI</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Income &lt; 40,000 AND DTI Ratio &gt; 0.4</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-20</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61850">
                <a:tc>
                  <a:txBody>
                    <a:bodyPr/>
                    <a:lstStyle/>
                    <a:p>
                      <a:pPr marL="0" lvl="0" indent="0" algn="l" rtl="0">
                        <a:lnSpc>
                          <a:spcPct val="100000"/>
                        </a:lnSpc>
                        <a:spcBef>
                          <a:spcPts val="0"/>
                        </a:spcBef>
                        <a:spcAft>
                          <a:spcPts val="0"/>
                        </a:spcAft>
                        <a:buNone/>
                      </a:pP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Risk: Poor Credit + New Job</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Credit Score &lt; 600 AND Years at Job &lt; 1</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-20</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61850">
                <a:tc>
                  <a:txBody>
                    <a:bodyPr/>
                    <a:lstStyle/>
                    <a:p>
                      <a:pPr marL="0" lvl="0" indent="0" algn="l" rtl="0">
                        <a:lnSpc>
                          <a:spcPct val="100000"/>
                        </a:lnSpc>
                        <a:spcBef>
                          <a:spcPts val="0"/>
                        </a:spcBef>
                        <a:spcAft>
                          <a:spcPts val="0"/>
                        </a:spcAft>
                        <a:buNone/>
                      </a:pP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Strength: High Income + Low DTI</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Income ≥ 100,000 AND DTI Ratio &lt; 0.2</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+15</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526350">
                <a:tc>
                  <a:txBody>
                    <a:bodyPr/>
                    <a:lstStyle/>
                    <a:p>
                      <a:pPr marL="0" lvl="0" indent="0" algn="l" rtl="0">
                        <a:lnSpc>
                          <a:spcPct val="100000"/>
                        </a:lnSpc>
                        <a:spcBef>
                          <a:spcPts val="0"/>
                        </a:spcBef>
                        <a:spcAft>
                          <a:spcPts val="0"/>
                        </a:spcAft>
                        <a:buNone/>
                      </a:pP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Strength: Excellent Credit + Stable Job</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Credit Score ≥ 750 AND Years at Job ≥ 5</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en" sz="1000">
                          <a:solidFill>
                            <a:schemeClr val="dk1"/>
                          </a:solidFill>
                          <a:latin typeface="Times New Roman"/>
                          <a:ea typeface="Times New Roman"/>
                          <a:cs typeface="Times New Roman"/>
                          <a:sym typeface="Times New Roman"/>
                        </a:rPr>
                        <a:t>+15</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526350">
                <a:tc>
                  <a:txBody>
                    <a:bodyPr/>
                    <a:lstStyle/>
                    <a:p>
                      <a:pPr marL="0" lvl="0" indent="0" algn="l" rtl="0">
                        <a:lnSpc>
                          <a:spcPct val="100000"/>
                        </a:lnSpc>
                        <a:spcBef>
                          <a:spcPts val="0"/>
                        </a:spcBef>
                        <a:spcAft>
                          <a:spcPts val="0"/>
                        </a:spcAft>
                        <a:buNone/>
                      </a:pP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Risk: Self-Employed + High DTI</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Employment Status = Self-Employed AND DTI Ratio &gt; 0.4</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-10</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526350">
                <a:tc>
                  <a:txBody>
                    <a:bodyPr/>
                    <a:lstStyle/>
                    <a:p>
                      <a:pPr marL="0" lvl="0" indent="0" algn="l" rtl="0">
                        <a:lnSpc>
                          <a:spcPct val="100000"/>
                        </a:lnSpc>
                        <a:spcBef>
                          <a:spcPts val="0"/>
                        </a:spcBef>
                        <a:spcAft>
                          <a:spcPts val="0"/>
                        </a:spcAft>
                        <a:buNone/>
                      </a:pP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Risk: Large Loan + Low Savings</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Loan-to-Value Ratio &lt; 0.80</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Insufficient savings for requested loan</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61850">
                <a:tc>
                  <a:txBody>
                    <a:bodyPr/>
                    <a:lstStyle/>
                    <a:p>
                      <a:pPr marL="0" lvl="0" indent="0" algn="l" rtl="0">
                        <a:lnSpc>
                          <a:spcPct val="100000"/>
                        </a:lnSpc>
                        <a:spcBef>
                          <a:spcPts val="0"/>
                        </a:spcBef>
                        <a:spcAft>
                          <a:spcPts val="0"/>
                        </a:spcAft>
                        <a:buNone/>
                      </a:pP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Risk: Past Bankruptcy + High DTI</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Loan-to-Value Ratio &gt; 0.95</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-15</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61850">
                <a:tc>
                  <a:txBody>
                    <a:bodyPr/>
                    <a:lstStyle/>
                    <a:p>
                      <a:pPr marL="0" lvl="0" indent="0" algn="l" rtl="0">
                        <a:lnSpc>
                          <a:spcPct val="100000"/>
                        </a:lnSpc>
                        <a:spcBef>
                          <a:spcPts val="0"/>
                        </a:spcBef>
                        <a:spcAft>
                          <a:spcPts val="0"/>
                        </a:spcAft>
                        <a:buNone/>
                      </a:pP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Applicant Too Young</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Loan Term (months) &lt; 36</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-100</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526350">
                <a:tc>
                  <a:txBody>
                    <a:bodyPr/>
                    <a:lstStyle/>
                    <a:p>
                      <a:pPr marL="0" lvl="0" indent="0" algn="l" rtl="0">
                        <a:lnSpc>
                          <a:spcPct val="100000"/>
                        </a:lnSpc>
                        <a:spcBef>
                          <a:spcPts val="0"/>
                        </a:spcBef>
                        <a:spcAft>
                          <a:spcPts val="0"/>
                        </a:spcAft>
                        <a:buNone/>
                      </a:pP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Non-Citizen Risk</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Loan Term (months) &gt; 60</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Non-citizen status requires special review</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61850">
                <a:tc>
                  <a:txBody>
                    <a:bodyPr/>
                    <a:lstStyle/>
                    <a:p>
                      <a:pPr marL="0" lvl="0" indent="0" algn="l" rtl="0">
                        <a:lnSpc>
                          <a:spcPct val="100000"/>
                        </a:lnSpc>
                        <a:spcBef>
                          <a:spcPts val="0"/>
                        </a:spcBef>
                        <a:spcAft>
                          <a:spcPts val="0"/>
                        </a:spcAft>
                        <a:buNone/>
                      </a:pP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Very High Risk Applicant</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Loan Amount &gt; Annual Income</a:t>
                      </a:r>
                      <a:endParaRPr sz="10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1000">
                          <a:latin typeface="Times New Roman"/>
                          <a:ea typeface="Times New Roman"/>
                          <a:cs typeface="Times New Roman"/>
                          <a:sym typeface="Times New Roman"/>
                        </a:rPr>
                        <a:t>Adjust Score</a:t>
                      </a:r>
                      <a:endParaRPr sz="1000">
                        <a:latin typeface="Times New Roman"/>
                        <a:ea typeface="Times New Roman"/>
                        <a:cs typeface="Times New Roman"/>
                        <a:sym typeface="Times New Roman"/>
                      </a:endParaRPr>
                    </a:p>
                  </a:txBody>
                  <a:tcPr marL="91425" marR="91425" marT="91425" marB="91425"/>
                </a:tc>
                <a:tc>
                  <a:txBody>
                    <a:bodyPr/>
                    <a:lstStyle/>
                    <a:p>
                      <a:pPr marL="0" lvl="0" indent="0" algn="ctr" rtl="0">
                        <a:lnSpc>
                          <a:spcPct val="100000"/>
                        </a:lnSpc>
                        <a:spcBef>
                          <a:spcPts val="0"/>
                        </a:spcBef>
                        <a:spcAft>
                          <a:spcPts val="0"/>
                        </a:spcAft>
                        <a:buNone/>
                      </a:pPr>
                      <a:r>
                        <a:rPr lang="en" sz="1000">
                          <a:solidFill>
                            <a:schemeClr val="dk1"/>
                          </a:solidFill>
                          <a:latin typeface="Times New Roman"/>
                          <a:ea typeface="Times New Roman"/>
                          <a:cs typeface="Times New Roman"/>
                          <a:sym typeface="Times New Roman"/>
                        </a:rPr>
                        <a:t>-50</a:t>
                      </a:r>
                      <a:endParaRPr sz="10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5" name="Rectangle 4"/>
          <p:cNvSpPr/>
          <p:nvPr/>
        </p:nvSpPr>
        <p:spPr>
          <a:xfrm>
            <a:off x="0" y="0"/>
            <a:ext cx="9144000" cy="1376529"/>
          </a:xfrm>
          <a:prstGeom prst="rect">
            <a:avLst/>
          </a:prstGeom>
          <a:solidFill>
            <a:srgbClr val="A8C7FA"/>
          </a:solidFill>
          <a:ln>
            <a:solidFill>
              <a:schemeClr val="accent1">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8" name="Google Shape;11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Inference Engine</a:t>
            </a:r>
            <a:endParaRPr b="1">
              <a:latin typeface="Times New Roman"/>
              <a:ea typeface="Times New Roman"/>
              <a:cs typeface="Times New Roman"/>
              <a:sym typeface="Times New Roman"/>
            </a:endParaRPr>
          </a:p>
        </p:txBody>
      </p:sp>
      <p:sp>
        <p:nvSpPr>
          <p:cNvPr id="119" name="Google Shape;119;p24"/>
          <p:cNvSpPr txBox="1">
            <a:spLocks noGrp="1"/>
          </p:cNvSpPr>
          <p:nvPr>
            <p:ph type="body" idx="1"/>
          </p:nvPr>
        </p:nvSpPr>
        <p:spPr>
          <a:xfrm>
            <a:off x="311700" y="1347305"/>
            <a:ext cx="8520600" cy="3416400"/>
          </a:xfrm>
          <a:prstGeom prst="rect">
            <a:avLst/>
          </a:prstGeom>
        </p:spPr>
        <p:txBody>
          <a:bodyPr spcFirstLastPara="1" wrap="square" lIns="91425" tIns="91425" rIns="91425" bIns="91425" anchor="t" anchorCtr="0">
            <a:normAutofit/>
          </a:bodyPr>
          <a:lstStyle/>
          <a:p>
            <a:pPr marL="457200" lvl="0" indent="-306705" algn="l" rtl="0">
              <a:lnSpc>
                <a:spcPct val="150000"/>
              </a:lnSpc>
              <a:spcBef>
                <a:spcPts val="0"/>
              </a:spcBef>
              <a:spcAft>
                <a:spcPts val="0"/>
              </a:spcAft>
              <a:buClr>
                <a:schemeClr val="dk1"/>
              </a:buClr>
              <a:buSzPts val="1230"/>
              <a:buChar char="●"/>
            </a:pPr>
            <a:r>
              <a:rPr lang="en" sz="1230" dirty="0">
                <a:solidFill>
                  <a:schemeClr val="dk1"/>
                </a:solidFill>
                <a:latin typeface="Times New Roman"/>
                <a:ea typeface="Times New Roman"/>
                <a:cs typeface="Times New Roman"/>
                <a:sym typeface="Times New Roman"/>
              </a:rPr>
              <a:t>It scans each applicant’s facts and compares them against all </a:t>
            </a:r>
            <a:r>
              <a:rPr lang="en" sz="1230" b="1" dirty="0">
                <a:solidFill>
                  <a:schemeClr val="dk1"/>
                </a:solidFill>
                <a:latin typeface="Times New Roman"/>
                <a:ea typeface="Times New Roman"/>
                <a:cs typeface="Times New Roman"/>
                <a:sym typeface="Times New Roman"/>
              </a:rPr>
              <a:t>50 IF-THEN</a:t>
            </a:r>
            <a:r>
              <a:rPr lang="en" sz="1230" dirty="0">
                <a:solidFill>
                  <a:schemeClr val="dk1"/>
                </a:solidFill>
                <a:latin typeface="Times New Roman"/>
                <a:ea typeface="Times New Roman"/>
                <a:cs typeface="Times New Roman"/>
                <a:sym typeface="Times New Roman"/>
              </a:rPr>
              <a:t> rules stored in the system’s knowledge base, using forward-chaining logic to select applicable rules.</a:t>
            </a:r>
            <a:endParaRPr sz="1230" dirty="0">
              <a:solidFill>
                <a:schemeClr val="dk1"/>
              </a:solidFill>
              <a:latin typeface="Times New Roman"/>
              <a:ea typeface="Times New Roman"/>
              <a:cs typeface="Times New Roman"/>
              <a:sym typeface="Times New Roman"/>
            </a:endParaRPr>
          </a:p>
          <a:p>
            <a:pPr marL="457200" lvl="0" indent="0" algn="l" rtl="0">
              <a:lnSpc>
                <a:spcPct val="150000"/>
              </a:lnSpc>
              <a:spcBef>
                <a:spcPts val="1200"/>
              </a:spcBef>
              <a:spcAft>
                <a:spcPts val="0"/>
              </a:spcAft>
              <a:buSzPts val="935"/>
              <a:buNone/>
            </a:pPr>
            <a:endParaRPr sz="1230" dirty="0">
              <a:solidFill>
                <a:schemeClr val="dk1"/>
              </a:solidFill>
              <a:latin typeface="Times New Roman"/>
              <a:ea typeface="Times New Roman"/>
              <a:cs typeface="Times New Roman"/>
              <a:sym typeface="Times New Roman"/>
            </a:endParaRPr>
          </a:p>
          <a:p>
            <a:pPr marL="457200" lvl="0" indent="-306705" algn="l" rtl="0">
              <a:lnSpc>
                <a:spcPct val="150000"/>
              </a:lnSpc>
              <a:spcBef>
                <a:spcPts val="1200"/>
              </a:spcBef>
              <a:spcAft>
                <a:spcPts val="0"/>
              </a:spcAft>
              <a:buClr>
                <a:schemeClr val="dk1"/>
              </a:buClr>
              <a:buSzPts val="1230"/>
              <a:buChar char="●"/>
            </a:pPr>
            <a:r>
              <a:rPr lang="en" sz="1230" dirty="0">
                <a:solidFill>
                  <a:schemeClr val="dk1"/>
                </a:solidFill>
                <a:latin typeface="Times New Roman"/>
                <a:ea typeface="Times New Roman"/>
                <a:cs typeface="Times New Roman"/>
                <a:sym typeface="Times New Roman"/>
              </a:rPr>
              <a:t>For every rule whose </a:t>
            </a:r>
            <a:r>
              <a:rPr lang="en" sz="1230" b="1" dirty="0">
                <a:solidFill>
                  <a:schemeClr val="dk1"/>
                </a:solidFill>
                <a:latin typeface="Times New Roman"/>
                <a:ea typeface="Times New Roman"/>
                <a:cs typeface="Times New Roman"/>
                <a:sym typeface="Times New Roman"/>
              </a:rPr>
              <a:t>IF</a:t>
            </a:r>
            <a:r>
              <a:rPr lang="en" sz="1230" dirty="0">
                <a:solidFill>
                  <a:schemeClr val="dk1"/>
                </a:solidFill>
                <a:latin typeface="Times New Roman"/>
                <a:ea typeface="Times New Roman"/>
                <a:cs typeface="Times New Roman"/>
                <a:sym typeface="Times New Roman"/>
              </a:rPr>
              <a:t> condition matches the applicant’s profile, the </a:t>
            </a:r>
            <a:r>
              <a:rPr lang="en" sz="1230" b="1" dirty="0">
                <a:solidFill>
                  <a:schemeClr val="dk1"/>
                </a:solidFill>
                <a:latin typeface="Times New Roman"/>
                <a:ea typeface="Times New Roman"/>
                <a:cs typeface="Times New Roman"/>
                <a:sym typeface="Times New Roman"/>
              </a:rPr>
              <a:t>THEN</a:t>
            </a:r>
            <a:r>
              <a:rPr lang="en" sz="1230" dirty="0">
                <a:solidFill>
                  <a:schemeClr val="dk1"/>
                </a:solidFill>
                <a:latin typeface="Times New Roman"/>
                <a:ea typeface="Times New Roman"/>
                <a:cs typeface="Times New Roman"/>
                <a:sym typeface="Times New Roman"/>
              </a:rPr>
              <a:t> action fires—typically adjusting a decision score or adding reasoning to the evaluation.</a:t>
            </a:r>
            <a:endParaRPr sz="1230" dirty="0">
              <a:solidFill>
                <a:schemeClr val="dk1"/>
              </a:solidFill>
              <a:latin typeface="Times New Roman"/>
              <a:ea typeface="Times New Roman"/>
              <a:cs typeface="Times New Roman"/>
              <a:sym typeface="Times New Roman"/>
            </a:endParaRPr>
          </a:p>
          <a:p>
            <a:pPr marL="457200" lvl="0" indent="0" algn="l" rtl="0">
              <a:lnSpc>
                <a:spcPct val="150000"/>
              </a:lnSpc>
              <a:spcBef>
                <a:spcPts val="1200"/>
              </a:spcBef>
              <a:spcAft>
                <a:spcPts val="0"/>
              </a:spcAft>
              <a:buSzPts val="935"/>
              <a:buNone/>
            </a:pPr>
            <a:endParaRPr sz="1230" dirty="0">
              <a:solidFill>
                <a:schemeClr val="dk1"/>
              </a:solidFill>
              <a:latin typeface="Times New Roman"/>
              <a:ea typeface="Times New Roman"/>
              <a:cs typeface="Times New Roman"/>
              <a:sym typeface="Times New Roman"/>
            </a:endParaRPr>
          </a:p>
          <a:p>
            <a:pPr marL="457200" lvl="0" indent="-306705" algn="l" rtl="0">
              <a:lnSpc>
                <a:spcPct val="150000"/>
              </a:lnSpc>
              <a:spcBef>
                <a:spcPts val="1200"/>
              </a:spcBef>
              <a:spcAft>
                <a:spcPts val="0"/>
              </a:spcAft>
              <a:buClr>
                <a:schemeClr val="dk1"/>
              </a:buClr>
              <a:buSzPts val="1230"/>
              <a:buChar char="●"/>
            </a:pPr>
            <a:r>
              <a:rPr lang="en" sz="1230" dirty="0">
                <a:solidFill>
                  <a:schemeClr val="dk1"/>
                </a:solidFill>
                <a:latin typeface="Times New Roman"/>
                <a:ea typeface="Times New Roman"/>
                <a:cs typeface="Times New Roman"/>
                <a:sym typeface="Times New Roman"/>
              </a:rPr>
              <a:t>After processing all relevant rules, the engine calculates a final score, and based on predefined thresholds, assigns the loan verdict: </a:t>
            </a:r>
            <a:r>
              <a:rPr lang="en" sz="1230" b="1" dirty="0">
                <a:solidFill>
                  <a:schemeClr val="dk1"/>
                </a:solidFill>
                <a:latin typeface="Times New Roman"/>
                <a:ea typeface="Times New Roman"/>
                <a:cs typeface="Times New Roman"/>
                <a:sym typeface="Times New Roman"/>
              </a:rPr>
              <a:t>“Approved,” “Declined,” or “Requires Manual Review”</a:t>
            </a:r>
            <a:r>
              <a:rPr lang="en" sz="1230" dirty="0">
                <a:solidFill>
                  <a:schemeClr val="dk1"/>
                </a:solidFill>
                <a:latin typeface="Times New Roman"/>
                <a:ea typeface="Times New Roman"/>
                <a:cs typeface="Times New Roman"/>
                <a:sym typeface="Times New Roman"/>
              </a:rPr>
              <a:t>.</a:t>
            </a:r>
            <a:endParaRPr sz="1230" dirty="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endParaRPr sz="1330" dirty="0">
              <a:latin typeface="Times New Roman"/>
              <a:ea typeface="Times New Roman"/>
              <a:cs typeface="Times New Roman"/>
              <a:sym typeface="Times New Roman"/>
            </a:endParaRPr>
          </a:p>
          <a:p>
            <a:pPr marL="0" lvl="0" indent="0" algn="l" rtl="0">
              <a:lnSpc>
                <a:spcPct val="95000"/>
              </a:lnSpc>
              <a:spcBef>
                <a:spcPts val="1200"/>
              </a:spcBef>
              <a:spcAft>
                <a:spcPts val="1200"/>
              </a:spcAft>
              <a:buSzPts val="935"/>
              <a:buNone/>
            </a:pPr>
            <a:endParaRPr sz="1330" dirty="0">
              <a:latin typeface="Times New Roman"/>
              <a:ea typeface="Times New Roman"/>
              <a:cs typeface="Times New Roman"/>
              <a:sym typeface="Times New Roman"/>
            </a:endParaRPr>
          </a:p>
        </p:txBody>
      </p:sp>
      <p:sp>
        <p:nvSpPr>
          <p:cNvPr id="120" name="Google Shape;120;p24"/>
          <p:cNvSpPr txBox="1"/>
          <p:nvPr/>
        </p:nvSpPr>
        <p:spPr>
          <a:xfrm>
            <a:off x="0" y="0"/>
            <a:ext cx="7768200" cy="3693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0"/>
              </a:spcAft>
              <a:buNone/>
            </a:pPr>
            <a:endParaRPr sz="1200">
              <a:solidFill>
                <a:schemeClr val="dk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Rectangle 6"/>
          <p:cNvSpPr/>
          <p:nvPr/>
        </p:nvSpPr>
        <p:spPr>
          <a:xfrm>
            <a:off x="0" y="0"/>
            <a:ext cx="9144000" cy="1376529"/>
          </a:xfrm>
          <a:prstGeom prst="rect">
            <a:avLst/>
          </a:prstGeom>
          <a:solidFill>
            <a:srgbClr val="A8C7FA"/>
          </a:solidFill>
          <a:ln>
            <a:solidFill>
              <a:schemeClr val="accent1">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5" name="Google Shape;12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Case Studies and Outputs</a:t>
            </a:r>
            <a:endParaRPr b="1">
              <a:latin typeface="Times New Roman"/>
              <a:ea typeface="Times New Roman"/>
              <a:cs typeface="Times New Roman"/>
              <a:sym typeface="Times New Roman"/>
            </a:endParaRPr>
          </a:p>
        </p:txBody>
      </p:sp>
      <p:sp>
        <p:nvSpPr>
          <p:cNvPr id="126" name="Google Shape;126;p25"/>
          <p:cNvSpPr txBox="1">
            <a:spLocks noGrp="1"/>
          </p:cNvSpPr>
          <p:nvPr>
            <p:ph type="body" idx="1"/>
          </p:nvPr>
        </p:nvSpPr>
        <p:spPr>
          <a:xfrm>
            <a:off x="311700" y="1191441"/>
            <a:ext cx="8520600" cy="3690000"/>
          </a:xfrm>
          <a:prstGeom prst="rect">
            <a:avLst/>
          </a:prstGeom>
        </p:spPr>
        <p:txBody>
          <a:bodyPr spcFirstLastPara="1" wrap="square" lIns="91425" tIns="91425" rIns="91425" bIns="91425" anchor="t" anchorCtr="0">
            <a:normAutofit fontScale="92500" lnSpcReduction="20000"/>
          </a:bodyPr>
          <a:lstStyle/>
          <a:p>
            <a:pPr marL="0" lvl="0" indent="0" algn="l" rtl="0">
              <a:spcBef>
                <a:spcPts val="1800"/>
              </a:spcBef>
              <a:spcAft>
                <a:spcPts val="0"/>
              </a:spcAft>
              <a:buClr>
                <a:schemeClr val="dk1"/>
              </a:buClr>
              <a:buSzPct val="78571"/>
              <a:buFont typeface="Arial"/>
              <a:buNone/>
            </a:pPr>
            <a:r>
              <a:rPr lang="en" sz="1400" b="1" dirty="0">
                <a:solidFill>
                  <a:schemeClr val="dk1"/>
                </a:solidFill>
                <a:latin typeface="Times New Roman"/>
                <a:ea typeface="Times New Roman"/>
                <a:cs typeface="Times New Roman"/>
                <a:sym typeface="Times New Roman"/>
              </a:rPr>
              <a:t>Case Study 1: Strong Applicant</a:t>
            </a:r>
            <a:endParaRPr sz="1400" b="1" dirty="0">
              <a:solidFill>
                <a:schemeClr val="dk1"/>
              </a:solidFill>
              <a:latin typeface="Times New Roman"/>
              <a:ea typeface="Times New Roman"/>
              <a:cs typeface="Times New Roman"/>
              <a:sym typeface="Times New Roman"/>
            </a:endParaRPr>
          </a:p>
          <a:p>
            <a:pPr marL="457200" lvl="0" indent="-299085" algn="l" rtl="0">
              <a:spcBef>
                <a:spcPts val="400"/>
              </a:spcBef>
              <a:spcAft>
                <a:spcPts val="0"/>
              </a:spcAft>
              <a:buClr>
                <a:schemeClr val="dk1"/>
              </a:buClr>
              <a:buSzPct val="100000"/>
              <a:buFont typeface="Times New Roman"/>
              <a:buChar char="●"/>
            </a:pPr>
            <a:r>
              <a:rPr lang="en" sz="1200" dirty="0">
                <a:solidFill>
                  <a:schemeClr val="dk1"/>
                </a:solidFill>
                <a:latin typeface="Times New Roman"/>
                <a:ea typeface="Times New Roman"/>
                <a:cs typeface="Times New Roman"/>
                <a:sym typeface="Times New Roman"/>
              </a:rPr>
              <a:t>Name: John Doe</a:t>
            </a:r>
            <a:endParaRPr sz="1200" dirty="0">
              <a:solidFill>
                <a:schemeClr val="dk1"/>
              </a:solidFill>
              <a:latin typeface="Times New Roman"/>
              <a:ea typeface="Times New Roman"/>
              <a:cs typeface="Times New Roman"/>
              <a:sym typeface="Times New Roman"/>
            </a:endParaRPr>
          </a:p>
          <a:p>
            <a:pPr marL="457200" lvl="0" indent="-299085" algn="l" rtl="0">
              <a:spcBef>
                <a:spcPts val="0"/>
              </a:spcBef>
              <a:spcAft>
                <a:spcPts val="0"/>
              </a:spcAft>
              <a:buClr>
                <a:schemeClr val="dk1"/>
              </a:buClr>
              <a:buSzPct val="100000"/>
              <a:buFont typeface="Times New Roman"/>
              <a:buChar char="●"/>
            </a:pPr>
            <a:r>
              <a:rPr lang="en" sz="1200" dirty="0">
                <a:solidFill>
                  <a:schemeClr val="dk1"/>
                </a:solidFill>
                <a:latin typeface="Times New Roman"/>
                <a:ea typeface="Times New Roman"/>
                <a:cs typeface="Times New Roman"/>
                <a:sym typeface="Times New Roman"/>
              </a:rPr>
              <a:t>High score </a:t>
            </a:r>
            <a:endParaRPr sz="12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r>
              <a:rPr lang="en" sz="1200" dirty="0">
                <a:solidFill>
                  <a:schemeClr val="dk1"/>
                </a:solidFill>
                <a:latin typeface="Times New Roman"/>
                <a:ea typeface="Times New Roman"/>
                <a:cs typeface="Times New Roman"/>
                <a:sym typeface="Times New Roman"/>
              </a:rPr>
              <a:t>(Credit = 810, Income = 160,000, Low DTI).</a:t>
            </a:r>
            <a:endParaRPr sz="1200" dirty="0">
              <a:solidFill>
                <a:schemeClr val="dk1"/>
              </a:solidFill>
              <a:latin typeface="Times New Roman"/>
              <a:ea typeface="Times New Roman"/>
              <a:cs typeface="Times New Roman"/>
              <a:sym typeface="Times New Roman"/>
            </a:endParaRPr>
          </a:p>
          <a:p>
            <a:pPr marL="457200" lvl="0" indent="-299085" algn="l" rtl="0">
              <a:spcBef>
                <a:spcPts val="0"/>
              </a:spcBef>
              <a:spcAft>
                <a:spcPts val="0"/>
              </a:spcAft>
              <a:buClr>
                <a:schemeClr val="dk1"/>
              </a:buClr>
              <a:buSzPct val="100000"/>
              <a:buFont typeface="Times New Roman"/>
              <a:buChar char="●"/>
            </a:pPr>
            <a:r>
              <a:rPr lang="en" sz="1200" dirty="0">
                <a:solidFill>
                  <a:schemeClr val="dk1"/>
                </a:solidFill>
                <a:latin typeface="Times New Roman"/>
                <a:ea typeface="Times New Roman"/>
                <a:cs typeface="Times New Roman"/>
                <a:sym typeface="Times New Roman"/>
              </a:rPr>
              <a:t>Decision: Approved (Score: 140).</a:t>
            </a:r>
            <a:endParaRPr sz="1200" dirty="0">
              <a:latin typeface="Times New Roman"/>
              <a:ea typeface="Times New Roman"/>
              <a:cs typeface="Times New Roman"/>
              <a:sym typeface="Times New Roman"/>
            </a:endParaRPr>
          </a:p>
          <a:p>
            <a:pPr marL="0" lvl="0" indent="0" algn="l" rtl="0">
              <a:spcBef>
                <a:spcPts val="1800"/>
              </a:spcBef>
              <a:spcAft>
                <a:spcPts val="0"/>
              </a:spcAft>
              <a:buClr>
                <a:schemeClr val="dk1"/>
              </a:buClr>
              <a:buSzPct val="78571"/>
              <a:buFont typeface="Arial"/>
              <a:buNone/>
            </a:pPr>
            <a:r>
              <a:rPr lang="en" sz="1400" b="1" dirty="0">
                <a:solidFill>
                  <a:schemeClr val="dk1"/>
                </a:solidFill>
                <a:latin typeface="Times New Roman"/>
                <a:ea typeface="Times New Roman"/>
                <a:cs typeface="Times New Roman"/>
                <a:sym typeface="Times New Roman"/>
              </a:rPr>
              <a:t>Case Study 2: Weak Applicant</a:t>
            </a:r>
            <a:endParaRPr sz="1400" b="1" dirty="0">
              <a:solidFill>
                <a:schemeClr val="dk1"/>
              </a:solidFill>
              <a:latin typeface="Times New Roman"/>
              <a:ea typeface="Times New Roman"/>
              <a:cs typeface="Times New Roman"/>
              <a:sym typeface="Times New Roman"/>
            </a:endParaRPr>
          </a:p>
          <a:p>
            <a:pPr marL="457200" lvl="0" indent="-299085" algn="l" rtl="0">
              <a:spcBef>
                <a:spcPts val="400"/>
              </a:spcBef>
              <a:spcAft>
                <a:spcPts val="0"/>
              </a:spcAft>
              <a:buClr>
                <a:schemeClr val="dk1"/>
              </a:buClr>
              <a:buSzPct val="100000"/>
              <a:buFont typeface="Times New Roman"/>
              <a:buChar char="●"/>
            </a:pPr>
            <a:r>
              <a:rPr lang="en" sz="1200" dirty="0">
                <a:solidFill>
                  <a:schemeClr val="dk1"/>
                </a:solidFill>
                <a:latin typeface="Times New Roman"/>
                <a:ea typeface="Times New Roman"/>
                <a:cs typeface="Times New Roman"/>
                <a:sym typeface="Times New Roman"/>
              </a:rPr>
              <a:t>Name: Tasha Blake</a:t>
            </a:r>
            <a:endParaRPr sz="1200" dirty="0">
              <a:solidFill>
                <a:schemeClr val="dk1"/>
              </a:solidFill>
              <a:latin typeface="Times New Roman"/>
              <a:ea typeface="Times New Roman"/>
              <a:cs typeface="Times New Roman"/>
              <a:sym typeface="Times New Roman"/>
            </a:endParaRPr>
          </a:p>
          <a:p>
            <a:pPr marL="457200" lvl="0" indent="-299085" algn="l" rtl="0">
              <a:spcBef>
                <a:spcPts val="0"/>
              </a:spcBef>
              <a:spcAft>
                <a:spcPts val="0"/>
              </a:spcAft>
              <a:buClr>
                <a:schemeClr val="dk1"/>
              </a:buClr>
              <a:buSzPct val="100000"/>
              <a:buFont typeface="Times New Roman"/>
              <a:buChar char="●"/>
            </a:pPr>
            <a:r>
              <a:rPr lang="en" sz="1200" dirty="0">
                <a:solidFill>
                  <a:schemeClr val="dk1"/>
                </a:solidFill>
                <a:latin typeface="Times New Roman"/>
                <a:ea typeface="Times New Roman"/>
                <a:cs typeface="Times New Roman"/>
                <a:sym typeface="Times New Roman"/>
              </a:rPr>
              <a:t>Poor credit (550), low income, </a:t>
            </a:r>
            <a:endParaRPr sz="12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r>
              <a:rPr lang="en" sz="1200" dirty="0">
                <a:solidFill>
                  <a:schemeClr val="dk1"/>
                </a:solidFill>
                <a:latin typeface="Times New Roman"/>
                <a:ea typeface="Times New Roman"/>
                <a:cs typeface="Times New Roman"/>
                <a:sym typeface="Times New Roman"/>
              </a:rPr>
              <a:t>high debt, recent bankruptcy.</a:t>
            </a:r>
            <a:endParaRPr sz="1200" dirty="0">
              <a:solidFill>
                <a:schemeClr val="dk1"/>
              </a:solidFill>
              <a:latin typeface="Times New Roman"/>
              <a:ea typeface="Times New Roman"/>
              <a:cs typeface="Times New Roman"/>
              <a:sym typeface="Times New Roman"/>
            </a:endParaRPr>
          </a:p>
          <a:p>
            <a:pPr marL="457200" lvl="0" indent="-299085" algn="l" rtl="0">
              <a:spcBef>
                <a:spcPts val="0"/>
              </a:spcBef>
              <a:spcAft>
                <a:spcPts val="0"/>
              </a:spcAft>
              <a:buClr>
                <a:schemeClr val="dk1"/>
              </a:buClr>
              <a:buSzPct val="100000"/>
              <a:buFont typeface="Times New Roman"/>
              <a:buChar char="●"/>
            </a:pPr>
            <a:r>
              <a:rPr lang="en" sz="1200" dirty="0">
                <a:solidFill>
                  <a:schemeClr val="dk1"/>
                </a:solidFill>
                <a:latin typeface="Times New Roman"/>
                <a:ea typeface="Times New Roman"/>
                <a:cs typeface="Times New Roman"/>
                <a:sym typeface="Times New Roman"/>
              </a:rPr>
              <a:t>Decision: Declined (Score: –185).</a:t>
            </a:r>
            <a:endParaRPr sz="1200" dirty="0">
              <a:solidFill>
                <a:schemeClr val="dk1"/>
              </a:solidFill>
              <a:latin typeface="Times New Roman"/>
              <a:ea typeface="Times New Roman"/>
              <a:cs typeface="Times New Roman"/>
              <a:sym typeface="Times New Roman"/>
            </a:endParaRPr>
          </a:p>
          <a:p>
            <a:pPr marL="0" lvl="0" indent="0" algn="l" rtl="0">
              <a:spcBef>
                <a:spcPts val="1800"/>
              </a:spcBef>
              <a:spcAft>
                <a:spcPts val="0"/>
              </a:spcAft>
              <a:buNone/>
            </a:pPr>
            <a:r>
              <a:rPr lang="en" sz="1400" b="1" dirty="0">
                <a:solidFill>
                  <a:schemeClr val="dk1"/>
                </a:solidFill>
                <a:latin typeface="Times New Roman"/>
                <a:ea typeface="Times New Roman"/>
                <a:cs typeface="Times New Roman"/>
                <a:sym typeface="Times New Roman"/>
              </a:rPr>
              <a:t>Case Study 3: Borderline Applicant</a:t>
            </a:r>
            <a:endParaRPr sz="1400" b="1" dirty="0">
              <a:solidFill>
                <a:schemeClr val="dk1"/>
              </a:solidFill>
              <a:latin typeface="Times New Roman"/>
              <a:ea typeface="Times New Roman"/>
              <a:cs typeface="Times New Roman"/>
              <a:sym typeface="Times New Roman"/>
            </a:endParaRPr>
          </a:p>
          <a:p>
            <a:pPr marL="457200" lvl="0" indent="-299085" algn="l" rtl="0">
              <a:spcBef>
                <a:spcPts val="400"/>
              </a:spcBef>
              <a:spcAft>
                <a:spcPts val="0"/>
              </a:spcAft>
              <a:buClr>
                <a:schemeClr val="dk1"/>
              </a:buClr>
              <a:buSzPct val="100000"/>
              <a:buFont typeface="Times New Roman"/>
              <a:buChar char="●"/>
            </a:pPr>
            <a:r>
              <a:rPr lang="en" sz="1200" dirty="0">
                <a:solidFill>
                  <a:schemeClr val="dk1"/>
                </a:solidFill>
                <a:latin typeface="Times New Roman"/>
                <a:ea typeface="Times New Roman"/>
                <a:cs typeface="Times New Roman"/>
                <a:sym typeface="Times New Roman"/>
              </a:rPr>
              <a:t>Name: Sid Par</a:t>
            </a:r>
            <a:endParaRPr sz="1200" dirty="0">
              <a:solidFill>
                <a:schemeClr val="dk1"/>
              </a:solidFill>
              <a:latin typeface="Times New Roman"/>
              <a:ea typeface="Times New Roman"/>
              <a:cs typeface="Times New Roman"/>
              <a:sym typeface="Times New Roman"/>
            </a:endParaRPr>
          </a:p>
          <a:p>
            <a:pPr marL="457200" lvl="0" indent="-299085" algn="l" rtl="0">
              <a:spcBef>
                <a:spcPts val="0"/>
              </a:spcBef>
              <a:spcAft>
                <a:spcPts val="0"/>
              </a:spcAft>
              <a:buClr>
                <a:schemeClr val="dk1"/>
              </a:buClr>
              <a:buSzPct val="100000"/>
              <a:buFont typeface="Times New Roman"/>
              <a:buChar char="●"/>
            </a:pPr>
            <a:r>
              <a:rPr lang="en" sz="1200" dirty="0">
                <a:solidFill>
                  <a:schemeClr val="dk1"/>
                </a:solidFill>
                <a:latin typeface="Times New Roman"/>
                <a:ea typeface="Times New Roman"/>
                <a:cs typeface="Times New Roman"/>
                <a:sym typeface="Times New Roman"/>
              </a:rPr>
              <a:t>Decent credit (680), </a:t>
            </a:r>
            <a:endParaRPr sz="12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r>
              <a:rPr lang="en" sz="1200" dirty="0">
                <a:solidFill>
                  <a:schemeClr val="dk1"/>
                </a:solidFill>
                <a:latin typeface="Times New Roman"/>
                <a:ea typeface="Times New Roman"/>
                <a:cs typeface="Times New Roman"/>
                <a:sym typeface="Times New Roman"/>
              </a:rPr>
              <a:t>moderate income, but self-employed, high DTI.</a:t>
            </a:r>
            <a:endParaRPr sz="1200" dirty="0">
              <a:solidFill>
                <a:schemeClr val="dk1"/>
              </a:solidFill>
              <a:latin typeface="Times New Roman"/>
              <a:ea typeface="Times New Roman"/>
              <a:cs typeface="Times New Roman"/>
              <a:sym typeface="Times New Roman"/>
            </a:endParaRPr>
          </a:p>
          <a:p>
            <a:pPr marL="457200" lvl="0" indent="-299085" algn="l" rtl="0">
              <a:spcBef>
                <a:spcPts val="0"/>
              </a:spcBef>
              <a:spcAft>
                <a:spcPts val="0"/>
              </a:spcAft>
              <a:buClr>
                <a:schemeClr val="dk1"/>
              </a:buClr>
              <a:buSzPct val="100000"/>
              <a:buFont typeface="Times New Roman"/>
              <a:buChar char="●"/>
            </a:pPr>
            <a:r>
              <a:rPr lang="en" sz="1200" dirty="0">
                <a:solidFill>
                  <a:schemeClr val="dk1"/>
                </a:solidFill>
                <a:latin typeface="Times New Roman"/>
                <a:ea typeface="Times New Roman"/>
                <a:cs typeface="Times New Roman"/>
                <a:sym typeface="Times New Roman"/>
              </a:rPr>
              <a:t>Decision: Review (Score: 0).</a:t>
            </a:r>
            <a:endParaRPr sz="1200" dirty="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dirty="0"/>
          </a:p>
        </p:txBody>
      </p:sp>
      <p:pic>
        <p:nvPicPr>
          <p:cNvPr id="127" name="Google Shape;127;p25" title="Case01.png"/>
          <p:cNvPicPr preferRelativeResize="0"/>
          <p:nvPr/>
        </p:nvPicPr>
        <p:blipFill>
          <a:blip r:embed="rId3">
            <a:alphaModFix/>
          </a:blip>
          <a:stretch>
            <a:fillRect/>
          </a:stretch>
        </p:blipFill>
        <p:spPr>
          <a:xfrm>
            <a:off x="3634900" y="1453275"/>
            <a:ext cx="5211675" cy="633025"/>
          </a:xfrm>
          <a:prstGeom prst="rect">
            <a:avLst/>
          </a:prstGeom>
          <a:noFill/>
          <a:ln>
            <a:noFill/>
          </a:ln>
        </p:spPr>
      </p:pic>
      <p:pic>
        <p:nvPicPr>
          <p:cNvPr id="128" name="Google Shape;128;p25" title="Case03.png"/>
          <p:cNvPicPr preferRelativeResize="0"/>
          <p:nvPr/>
        </p:nvPicPr>
        <p:blipFill>
          <a:blip r:embed="rId4">
            <a:alphaModFix/>
          </a:blip>
          <a:stretch>
            <a:fillRect/>
          </a:stretch>
        </p:blipFill>
        <p:spPr>
          <a:xfrm>
            <a:off x="3634900" y="3698417"/>
            <a:ext cx="5211676" cy="659308"/>
          </a:xfrm>
          <a:prstGeom prst="rect">
            <a:avLst/>
          </a:prstGeom>
          <a:noFill/>
          <a:ln>
            <a:noFill/>
          </a:ln>
        </p:spPr>
      </p:pic>
      <p:pic>
        <p:nvPicPr>
          <p:cNvPr id="129" name="Google Shape;129;p25" title="Case02.png"/>
          <p:cNvPicPr preferRelativeResize="0"/>
          <p:nvPr/>
        </p:nvPicPr>
        <p:blipFill>
          <a:blip r:embed="rId5">
            <a:alphaModFix/>
          </a:blip>
          <a:stretch>
            <a:fillRect/>
          </a:stretch>
        </p:blipFill>
        <p:spPr>
          <a:xfrm>
            <a:off x="3634900" y="2580234"/>
            <a:ext cx="5211674" cy="63302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6">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6">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6">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6">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6">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6">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5" name="Rectangle 4"/>
          <p:cNvSpPr/>
          <p:nvPr/>
        </p:nvSpPr>
        <p:spPr>
          <a:xfrm>
            <a:off x="0" y="0"/>
            <a:ext cx="9144000" cy="1376529"/>
          </a:xfrm>
          <a:prstGeom prst="rect">
            <a:avLst/>
          </a:prstGeom>
          <a:solidFill>
            <a:srgbClr val="A8C7FA"/>
          </a:solidFill>
          <a:ln>
            <a:solidFill>
              <a:schemeClr val="accent1">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4" name="Google Shape;134;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Advantages and Limitations </a:t>
            </a:r>
            <a:endParaRPr b="1">
              <a:latin typeface="Times New Roman"/>
              <a:ea typeface="Times New Roman"/>
              <a:cs typeface="Times New Roman"/>
              <a:sym typeface="Times New Roman"/>
            </a:endParaRPr>
          </a:p>
        </p:txBody>
      </p:sp>
      <p:sp>
        <p:nvSpPr>
          <p:cNvPr id="135" name="Google Shape;135;p26"/>
          <p:cNvSpPr txBox="1">
            <a:spLocks noGrp="1"/>
          </p:cNvSpPr>
          <p:nvPr>
            <p:ph type="body" idx="1"/>
          </p:nvPr>
        </p:nvSpPr>
        <p:spPr>
          <a:xfrm>
            <a:off x="311700" y="1680529"/>
            <a:ext cx="4161000" cy="2026200"/>
          </a:xfrm>
          <a:prstGeom prst="rect">
            <a:avLst/>
          </a:prstGeom>
        </p:spPr>
        <p:txBody>
          <a:bodyPr spcFirstLastPara="1" wrap="square" lIns="91425" tIns="91425" rIns="91425" bIns="91425" anchor="t" anchorCtr="0">
            <a:normAutofit/>
          </a:bodyPr>
          <a:lstStyle/>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Faster, consistent decision-making.</a:t>
            </a:r>
            <a:endParaRPr sz="12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Transparent reasoning.</a:t>
            </a:r>
            <a:endParaRPr sz="12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Handles large applications with minimal bias.</a:t>
            </a:r>
            <a:endParaRPr sz="1200" dirty="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dirty="0"/>
          </a:p>
        </p:txBody>
      </p:sp>
      <p:sp>
        <p:nvSpPr>
          <p:cNvPr id="136" name="Google Shape;136;p26"/>
          <p:cNvSpPr txBox="1">
            <a:spLocks noGrp="1"/>
          </p:cNvSpPr>
          <p:nvPr>
            <p:ph type="body" idx="1"/>
          </p:nvPr>
        </p:nvSpPr>
        <p:spPr>
          <a:xfrm>
            <a:off x="4394700" y="1680523"/>
            <a:ext cx="4437600" cy="1957800"/>
          </a:xfrm>
          <a:prstGeom prst="rect">
            <a:avLst/>
          </a:prstGeom>
        </p:spPr>
        <p:txBody>
          <a:bodyPr spcFirstLastPara="1" wrap="square" lIns="91425" tIns="91425" rIns="91425" bIns="91425" anchor="t" anchorCtr="0">
            <a:normAutofit/>
          </a:bodyPr>
          <a:lstStyle/>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Rule inflexibility (cannot adapt to unseen scenarios).</a:t>
            </a:r>
            <a:endParaRPr sz="12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Requires periodic updates.</a:t>
            </a:r>
            <a:endParaRPr sz="12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Borderline cases still need human review.</a:t>
            </a:r>
            <a:endParaRPr sz="1200" dirty="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6">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6">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build="allAtOnce"/>
      <p:bldP spid="136"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5" name="Rectangle 4"/>
          <p:cNvSpPr/>
          <p:nvPr/>
        </p:nvSpPr>
        <p:spPr>
          <a:xfrm>
            <a:off x="0" y="1"/>
            <a:ext cx="9144000" cy="1291328"/>
          </a:xfrm>
          <a:prstGeom prst="rect">
            <a:avLst/>
          </a:prstGeom>
          <a:solidFill>
            <a:srgbClr val="A8C7FA"/>
          </a:solidFill>
          <a:ln>
            <a:solidFill>
              <a:schemeClr val="accent1">
                <a:lumMod val="40000"/>
                <a:lumOff val="6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1" name="Google Shape;141;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Future Aspects and Conclusion </a:t>
            </a:r>
            <a:endParaRPr b="1">
              <a:latin typeface="Times New Roman"/>
              <a:ea typeface="Times New Roman"/>
              <a:cs typeface="Times New Roman"/>
              <a:sym typeface="Times New Roman"/>
            </a:endParaRPr>
          </a:p>
        </p:txBody>
      </p:sp>
      <p:sp>
        <p:nvSpPr>
          <p:cNvPr id="142" name="Google Shape;142;p27"/>
          <p:cNvSpPr txBox="1">
            <a:spLocks noGrp="1"/>
          </p:cNvSpPr>
          <p:nvPr>
            <p:ph type="body" idx="1"/>
          </p:nvPr>
        </p:nvSpPr>
        <p:spPr>
          <a:xfrm>
            <a:off x="311700" y="2729240"/>
            <a:ext cx="8671200" cy="2329360"/>
          </a:xfrm>
          <a:prstGeom prst="rect">
            <a:avLst/>
          </a:prstGeom>
        </p:spPr>
        <p:txBody>
          <a:bodyPr spcFirstLastPara="1" wrap="square" lIns="91425" tIns="91425" rIns="91425" bIns="91425" anchor="t" anchorCtr="0">
            <a:normAutofit fontScale="92500" lnSpcReduction="10000"/>
          </a:bodyPr>
          <a:lstStyle/>
          <a:p>
            <a:pPr marL="457200" lvl="0" indent="-302418" algn="l" rtl="0">
              <a:spcBef>
                <a:spcPts val="0"/>
              </a:spcBef>
              <a:spcAft>
                <a:spcPts val="0"/>
              </a:spcAft>
              <a:buClr>
                <a:schemeClr val="dk1"/>
              </a:buClr>
              <a:buSzPct val="100000"/>
              <a:buFont typeface="Times New Roman"/>
              <a:buChar char="●"/>
            </a:pPr>
            <a:r>
              <a:rPr lang="en" sz="1300" dirty="0" smtClean="0">
                <a:solidFill>
                  <a:schemeClr val="dk1"/>
                </a:solidFill>
                <a:latin typeface="Times New Roman"/>
                <a:ea typeface="Times New Roman"/>
                <a:cs typeface="Times New Roman"/>
                <a:sym typeface="Times New Roman"/>
              </a:rPr>
              <a:t>Ensures </a:t>
            </a:r>
            <a:r>
              <a:rPr lang="en" sz="1300" dirty="0">
                <a:solidFill>
                  <a:schemeClr val="dk1"/>
                </a:solidFill>
                <a:latin typeface="Times New Roman"/>
                <a:ea typeface="Times New Roman"/>
                <a:cs typeface="Times New Roman"/>
                <a:sym typeface="Times New Roman"/>
              </a:rPr>
              <a:t>consistent, unbiased decisions by applying objective financial criteria like credit score, income, employment, and debt ratios.</a:t>
            </a:r>
            <a:endParaRPr sz="13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300" dirty="0">
              <a:solidFill>
                <a:schemeClr val="dk1"/>
              </a:solidFill>
              <a:latin typeface="Times New Roman"/>
              <a:ea typeface="Times New Roman"/>
              <a:cs typeface="Times New Roman"/>
              <a:sym typeface="Times New Roman"/>
            </a:endParaRPr>
          </a:p>
          <a:p>
            <a:pPr marL="457200" lvl="0" indent="-302418" algn="l" rtl="0">
              <a:spcBef>
                <a:spcPts val="0"/>
              </a:spcBef>
              <a:spcAft>
                <a:spcPts val="0"/>
              </a:spcAft>
              <a:buClr>
                <a:schemeClr val="dk1"/>
              </a:buClr>
              <a:buSzPct val="100000"/>
              <a:buFont typeface="Times New Roman"/>
              <a:buChar char="●"/>
            </a:pPr>
            <a:r>
              <a:rPr lang="en" sz="1300" dirty="0">
                <a:solidFill>
                  <a:schemeClr val="dk1"/>
                </a:solidFill>
                <a:latin typeface="Times New Roman"/>
                <a:ea typeface="Times New Roman"/>
                <a:cs typeface="Times New Roman"/>
                <a:sym typeface="Times New Roman"/>
              </a:rPr>
              <a:t>Provides transparent explanations for decisions by showing which rules influenced the outcome.</a:t>
            </a:r>
            <a:endParaRPr sz="13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300" dirty="0">
              <a:solidFill>
                <a:schemeClr val="dk1"/>
              </a:solidFill>
              <a:latin typeface="Times New Roman"/>
              <a:ea typeface="Times New Roman"/>
              <a:cs typeface="Times New Roman"/>
              <a:sym typeface="Times New Roman"/>
            </a:endParaRPr>
          </a:p>
          <a:p>
            <a:pPr marL="457200" lvl="0" indent="-302418" algn="l" rtl="0">
              <a:spcBef>
                <a:spcPts val="0"/>
              </a:spcBef>
              <a:spcAft>
                <a:spcPts val="0"/>
              </a:spcAft>
              <a:buClr>
                <a:schemeClr val="dk1"/>
              </a:buClr>
              <a:buSzPct val="100000"/>
              <a:buFont typeface="Times New Roman"/>
              <a:buChar char="●"/>
            </a:pPr>
            <a:r>
              <a:rPr lang="en" sz="1300" dirty="0">
                <a:solidFill>
                  <a:schemeClr val="dk1"/>
                </a:solidFill>
                <a:latin typeface="Times New Roman"/>
                <a:ea typeface="Times New Roman"/>
                <a:cs typeface="Times New Roman"/>
                <a:sym typeface="Times New Roman"/>
              </a:rPr>
              <a:t>Handles a large volume of applications efficiently, reducing manual workload and errors.</a:t>
            </a:r>
            <a:endParaRPr sz="13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300" dirty="0">
              <a:solidFill>
                <a:schemeClr val="dk1"/>
              </a:solidFill>
              <a:latin typeface="Times New Roman"/>
              <a:ea typeface="Times New Roman"/>
              <a:cs typeface="Times New Roman"/>
              <a:sym typeface="Times New Roman"/>
            </a:endParaRPr>
          </a:p>
          <a:p>
            <a:pPr marL="457200" lvl="0" indent="-302418" algn="l" rtl="0">
              <a:spcBef>
                <a:spcPts val="0"/>
              </a:spcBef>
              <a:spcAft>
                <a:spcPts val="0"/>
              </a:spcAft>
              <a:buClr>
                <a:schemeClr val="dk1"/>
              </a:buClr>
              <a:buSzPct val="100000"/>
              <a:buFont typeface="Times New Roman"/>
              <a:buChar char="●"/>
            </a:pPr>
            <a:r>
              <a:rPr lang="en" sz="1300" dirty="0">
                <a:solidFill>
                  <a:schemeClr val="dk1"/>
                </a:solidFill>
                <a:latin typeface="Times New Roman"/>
                <a:ea typeface="Times New Roman"/>
                <a:cs typeface="Times New Roman"/>
                <a:sym typeface="Times New Roman"/>
              </a:rPr>
              <a:t>While highly effective, the system requires periodic updates and human review for borderline or complex cases.</a:t>
            </a:r>
            <a:endParaRPr sz="13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300" dirty="0">
              <a:solidFill>
                <a:schemeClr val="dk1"/>
              </a:solidFill>
              <a:latin typeface="Times New Roman"/>
              <a:ea typeface="Times New Roman"/>
              <a:cs typeface="Times New Roman"/>
              <a:sym typeface="Times New Roman"/>
            </a:endParaRPr>
          </a:p>
          <a:p>
            <a:pPr marL="457200" lvl="0" indent="-302418" algn="l" rtl="0">
              <a:spcBef>
                <a:spcPts val="0"/>
              </a:spcBef>
              <a:spcAft>
                <a:spcPts val="0"/>
              </a:spcAft>
              <a:buClr>
                <a:schemeClr val="dk1"/>
              </a:buClr>
              <a:buSzPct val="100000"/>
              <a:buFont typeface="Times New Roman"/>
              <a:buChar char="●"/>
            </a:pPr>
            <a:r>
              <a:rPr lang="en" sz="1300" dirty="0">
                <a:solidFill>
                  <a:schemeClr val="dk1"/>
                </a:solidFill>
                <a:latin typeface="Times New Roman"/>
                <a:ea typeface="Times New Roman"/>
                <a:cs typeface="Times New Roman"/>
                <a:sym typeface="Times New Roman"/>
              </a:rPr>
              <a:t>The expert system enhances the overall reliability and fairness in loan approvals, improving customer satisfaction and operational efficiency.</a:t>
            </a:r>
            <a:endParaRPr sz="13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200" dirty="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sz="1200" dirty="0">
              <a:latin typeface="Times New Roman"/>
              <a:ea typeface="Times New Roman"/>
              <a:cs typeface="Times New Roman"/>
              <a:sym typeface="Times New Roman"/>
            </a:endParaRPr>
          </a:p>
        </p:txBody>
      </p:sp>
      <p:sp>
        <p:nvSpPr>
          <p:cNvPr id="2" name="TextBox 1"/>
          <p:cNvSpPr txBox="1"/>
          <p:nvPr/>
        </p:nvSpPr>
        <p:spPr>
          <a:xfrm>
            <a:off x="311700" y="1291328"/>
            <a:ext cx="7776488" cy="1384995"/>
          </a:xfrm>
          <a:prstGeom prst="rect">
            <a:avLst/>
          </a:prstGeom>
          <a:noFill/>
        </p:spPr>
        <p:txBody>
          <a:bodyPr wrap="none" rtlCol="0">
            <a:spAutoFit/>
          </a:bodyPr>
          <a:lstStyle/>
          <a:p>
            <a:pPr marL="457200" lvl="0" indent="-302418">
              <a:buClr>
                <a:schemeClr val="dk1"/>
              </a:buClr>
              <a:buSzPct val="100000"/>
              <a:buFont typeface="Times New Roman"/>
              <a:buChar char="●"/>
            </a:pPr>
            <a:r>
              <a:rPr lang="en-US" sz="1200" dirty="0">
                <a:solidFill>
                  <a:schemeClr val="dk1"/>
                </a:solidFill>
                <a:latin typeface="Times New Roman"/>
                <a:ea typeface="Times New Roman"/>
                <a:cs typeface="Times New Roman"/>
                <a:sym typeface="Times New Roman"/>
              </a:rPr>
              <a:t>Integration of real-time data feeds such as credit bureau APIs to get up-to-date applicant financial data.</a:t>
            </a:r>
          </a:p>
          <a:p>
            <a:pPr marL="457200" lvl="0"/>
            <a:endParaRPr lang="en-US" sz="1200" dirty="0">
              <a:solidFill>
                <a:schemeClr val="dk1"/>
              </a:solidFill>
              <a:latin typeface="Times New Roman"/>
              <a:ea typeface="Times New Roman"/>
              <a:cs typeface="Times New Roman"/>
              <a:sym typeface="Times New Roman"/>
            </a:endParaRPr>
          </a:p>
          <a:p>
            <a:pPr marL="457200" lvl="0" indent="-302418">
              <a:buClr>
                <a:schemeClr val="dk1"/>
              </a:buClr>
              <a:buSzPct val="100000"/>
              <a:buFont typeface="Times New Roman"/>
              <a:buChar char="●"/>
            </a:pPr>
            <a:r>
              <a:rPr lang="en-US" sz="1200" dirty="0">
                <a:solidFill>
                  <a:schemeClr val="dk1"/>
                </a:solidFill>
                <a:latin typeface="Times New Roman"/>
                <a:ea typeface="Times New Roman"/>
                <a:cs typeface="Times New Roman"/>
                <a:sym typeface="Times New Roman"/>
              </a:rPr>
              <a:t>Deployment of intuitive web-based interfaces for applicants and financial officers for smoother user experience.</a:t>
            </a:r>
          </a:p>
          <a:p>
            <a:pPr marL="457200" lvl="0"/>
            <a:endParaRPr lang="en-US" sz="1200" dirty="0">
              <a:solidFill>
                <a:schemeClr val="dk1"/>
              </a:solidFill>
              <a:latin typeface="Times New Roman"/>
              <a:ea typeface="Times New Roman"/>
              <a:cs typeface="Times New Roman"/>
              <a:sym typeface="Times New Roman"/>
            </a:endParaRPr>
          </a:p>
          <a:p>
            <a:pPr marL="457200" lvl="0" indent="-302418">
              <a:buClr>
                <a:schemeClr val="dk1"/>
              </a:buClr>
              <a:buSzPct val="100000"/>
              <a:buFont typeface="Times New Roman"/>
              <a:buChar char="●"/>
            </a:pPr>
            <a:r>
              <a:rPr lang="en-US" sz="1200" dirty="0">
                <a:solidFill>
                  <a:schemeClr val="dk1"/>
                </a:solidFill>
                <a:latin typeface="Times New Roman"/>
                <a:ea typeface="Times New Roman"/>
                <a:cs typeface="Times New Roman"/>
                <a:sym typeface="Times New Roman"/>
              </a:rPr>
              <a:t>Addition of fraud detection, risk assessment, and automated post-disbursement loan servicing features.</a:t>
            </a:r>
          </a:p>
          <a:p>
            <a:pPr marL="457200" lvl="0"/>
            <a:endParaRPr lang="en-US" sz="1200" dirty="0">
              <a:solidFill>
                <a:schemeClr val="dk1"/>
              </a:solidFill>
              <a:latin typeface="Times New Roman"/>
              <a:ea typeface="Times New Roman"/>
              <a:cs typeface="Times New Roman"/>
              <a:sym typeface="Times New Roman"/>
            </a:endParaRPr>
          </a:p>
          <a:p>
            <a:pPr marL="457200" lvl="0" indent="-302418">
              <a:buClr>
                <a:schemeClr val="dk1"/>
              </a:buClr>
              <a:buSzPct val="100000"/>
              <a:buFont typeface="Times New Roman"/>
              <a:buChar char="●"/>
            </a:pPr>
            <a:r>
              <a:rPr lang="en-US" sz="1200" dirty="0">
                <a:solidFill>
                  <a:schemeClr val="dk1"/>
                </a:solidFill>
                <a:latin typeface="Times New Roman"/>
                <a:ea typeface="Times New Roman"/>
                <a:cs typeface="Times New Roman"/>
                <a:sym typeface="Times New Roman"/>
              </a:rPr>
              <a:t>Use of alternative data sources and behavioral analytics to enhance financial inclusion for underserved populations</a:t>
            </a:r>
            <a:r>
              <a:rPr lang="en-US" sz="1200" dirty="0" smtClean="0">
                <a:solidFill>
                  <a:schemeClr val="dk1"/>
                </a:solidFill>
                <a:latin typeface="Times New Roman"/>
                <a:ea typeface="Times New Roman"/>
                <a:cs typeface="Times New Roman"/>
                <a:sym typeface="Times New Roman"/>
              </a:rPr>
              <a:t>.</a:t>
            </a:r>
            <a:endParaRPr lang="en-US" sz="1200"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2">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build="allAtOnce"/>
      <p:bldP spid="2"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Shape 146"/>
        <p:cNvGrpSpPr/>
        <p:nvPr/>
      </p:nvGrpSpPr>
      <p:grpSpPr>
        <a:xfrm>
          <a:off x="0" y="0"/>
          <a:ext cx="0" cy="0"/>
          <a:chOff x="0" y="0"/>
          <a:chExt cx="0" cy="0"/>
        </a:xfrm>
      </p:grpSpPr>
      <p:sp>
        <p:nvSpPr>
          <p:cNvPr id="147" name="Google Shape;147;p28"/>
          <p:cNvSpPr txBox="1">
            <a:spLocks noGrp="1"/>
          </p:cNvSpPr>
          <p:nvPr>
            <p:ph type="title"/>
          </p:nvPr>
        </p:nvSpPr>
        <p:spPr>
          <a:xfrm>
            <a:off x="370325" y="21595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dirty="0">
                <a:solidFill>
                  <a:schemeClr val="bg1"/>
                </a:solidFill>
                <a:latin typeface="Times New Roman"/>
                <a:ea typeface="Times New Roman"/>
                <a:cs typeface="Times New Roman"/>
                <a:sym typeface="Times New Roman"/>
              </a:rPr>
              <a:t>Thank You</a:t>
            </a:r>
            <a:endParaRPr b="1" dirty="0">
              <a:solidFill>
                <a:schemeClr val="bg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1403</Words>
  <Application>Microsoft Office PowerPoint</Application>
  <PresentationFormat>On-screen Show (16:9)</PresentationFormat>
  <Paragraphs>331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Roboto</vt:lpstr>
      <vt:lpstr>Times New Roman</vt:lpstr>
      <vt:lpstr>Simple Light</vt:lpstr>
      <vt:lpstr>Loan Approval Expert System</vt:lpstr>
      <vt:lpstr>Group Members</vt:lpstr>
      <vt:lpstr>Agenda</vt:lpstr>
      <vt:lpstr>Introduction</vt:lpstr>
      <vt:lpstr>System Architecture</vt:lpstr>
      <vt:lpstr>Knowledge Base</vt:lpstr>
      <vt:lpstr>PowerPoint Presentation</vt:lpstr>
      <vt:lpstr>PowerPoint Presentation</vt:lpstr>
      <vt:lpstr>PowerPoint Presentation</vt:lpstr>
      <vt:lpstr>PowerPoint Presentation</vt:lpstr>
      <vt:lpstr>PowerPoint Presentation</vt:lpstr>
      <vt:lpstr>Inference Engine</vt:lpstr>
      <vt:lpstr>Case Studies and Outputs</vt:lpstr>
      <vt:lpstr>Advantages and Limitations </vt:lpstr>
      <vt:lpstr>Future Aspects and 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Approval Expert System</dc:title>
  <cp:lastModifiedBy>Siddhartha Parida</cp:lastModifiedBy>
  <cp:revision>6</cp:revision>
  <dcterms:modified xsi:type="dcterms:W3CDTF">2025-11-05T06:33:54Z</dcterms:modified>
</cp:coreProperties>
</file>